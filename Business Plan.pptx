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9" r:id="rId3"/>
    <p:sldId id="293" r:id="rId4"/>
    <p:sldId id="294" r:id="rId5"/>
    <p:sldId id="295" r:id="rId6"/>
    <p:sldId id="296" r:id="rId7"/>
    <p:sldId id="297" r:id="rId8"/>
    <p:sldId id="298" r:id="rId9"/>
    <p:sldId id="275" r:id="rId10"/>
    <p:sldId id="299" r:id="rId11"/>
    <p:sldId id="300" r:id="rId12"/>
    <p:sldId id="301" r:id="rId13"/>
    <p:sldId id="263" r:id="rId14"/>
    <p:sldId id="302" r:id="rId15"/>
    <p:sldId id="303" r:id="rId16"/>
    <p:sldId id="304" r:id="rId17"/>
    <p:sldId id="274" r:id="rId18"/>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Inknut Antiqua Medium" panose="020B0604020202020204" charset="0"/>
      <p:regular r:id="rId23"/>
    </p:embeddedFont>
    <p:embeddedFont>
      <p:font typeface="Muli" panose="020B0604020202020204" charset="0"/>
      <p:regular r:id="rId24"/>
    </p:embeddedFont>
    <p:embeddedFont>
      <p:font typeface="Muli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94622" autoAdjust="0"/>
  </p:normalViewPr>
  <p:slideViewPr>
    <p:cSldViewPr>
      <p:cViewPr varScale="1">
        <p:scale>
          <a:sx n="48" d="100"/>
          <a:sy n="48" d="100"/>
        </p:scale>
        <p:origin x="424"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E5FB34-CFB3-4D00-84E0-4181D21E9A3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BA52485E-FEF4-4623-8779-67C926007165}">
      <dgm:prSet phldrT="[Text]"/>
      <dgm:spPr/>
      <dgm:t>
        <a:bodyPr/>
        <a:lstStyle/>
        <a:p>
          <a:r>
            <a:rPr lang="en-US" dirty="0"/>
            <a:t>Founder / General Manager </a:t>
          </a:r>
          <a:br>
            <a:rPr lang="en-US" dirty="0"/>
          </a:br>
          <a:r>
            <a:rPr lang="en-US" dirty="0"/>
            <a:t>Overall Management &amp; Strategy</a:t>
          </a:r>
        </a:p>
      </dgm:t>
    </dgm:pt>
    <dgm:pt modelId="{941EDEF1-3851-4B91-A1C6-0CC0C6DB49F4}" type="parTrans" cxnId="{9931C53D-6C25-4CC9-8B73-0050763B8126}">
      <dgm:prSet/>
      <dgm:spPr/>
      <dgm:t>
        <a:bodyPr/>
        <a:lstStyle/>
        <a:p>
          <a:endParaRPr lang="en-US"/>
        </a:p>
      </dgm:t>
    </dgm:pt>
    <dgm:pt modelId="{F6504274-518F-469F-BD54-327372F7EA0E}" type="sibTrans" cxnId="{9931C53D-6C25-4CC9-8B73-0050763B8126}">
      <dgm:prSet/>
      <dgm:spPr/>
      <dgm:t>
        <a:bodyPr/>
        <a:lstStyle/>
        <a:p>
          <a:endParaRPr lang="en-US"/>
        </a:p>
      </dgm:t>
    </dgm:pt>
    <dgm:pt modelId="{FF5A2735-2C98-4411-B6F7-57AFC2040DAA}" type="asst">
      <dgm:prSet phldrT="[Text]"/>
      <dgm:spPr/>
      <dgm:t>
        <a:bodyPr/>
        <a:lstStyle/>
        <a:p>
          <a:r>
            <a:rPr lang="en-US" dirty="0"/>
            <a:t>Technical &amp; Operations Lead </a:t>
          </a:r>
          <a:br>
            <a:rPr lang="en-US" dirty="0"/>
          </a:br>
          <a:r>
            <a:rPr lang="en-US" dirty="0"/>
            <a:t>Chatbot Development Platform Maintenance Client Integrations</a:t>
          </a:r>
        </a:p>
      </dgm:t>
    </dgm:pt>
    <dgm:pt modelId="{942F4345-1BE7-4839-949C-DC0B71C1C1F1}" type="parTrans" cxnId="{777F55CC-FE6D-4495-858B-6BDCE293FC15}">
      <dgm:prSet/>
      <dgm:spPr/>
      <dgm:t>
        <a:bodyPr/>
        <a:lstStyle/>
        <a:p>
          <a:endParaRPr lang="en-US"/>
        </a:p>
      </dgm:t>
    </dgm:pt>
    <dgm:pt modelId="{302794E5-18EA-48B9-A402-E90C89614144}" type="sibTrans" cxnId="{777F55CC-FE6D-4495-858B-6BDCE293FC15}">
      <dgm:prSet/>
      <dgm:spPr/>
      <dgm:t>
        <a:bodyPr/>
        <a:lstStyle/>
        <a:p>
          <a:endParaRPr lang="en-US"/>
        </a:p>
      </dgm:t>
    </dgm:pt>
    <dgm:pt modelId="{6FEE460E-D596-40EC-9A64-66FE559523FF}" type="asst">
      <dgm:prSet phldrT="[Text]"/>
      <dgm:spPr/>
      <dgm:t>
        <a:bodyPr/>
        <a:lstStyle/>
        <a:p>
          <a:r>
            <a:rPr lang="en-US" dirty="0"/>
            <a:t>Marketing &amp; Sales Lead Client Acquisition Digital Marketing Partnership Management</a:t>
          </a:r>
        </a:p>
      </dgm:t>
    </dgm:pt>
    <dgm:pt modelId="{27220821-408F-41E2-8087-1D1C1D452407}" type="parTrans" cxnId="{3D8BA1BF-B33E-4048-9D32-72308E807365}">
      <dgm:prSet/>
      <dgm:spPr/>
      <dgm:t>
        <a:bodyPr/>
        <a:lstStyle/>
        <a:p>
          <a:endParaRPr lang="en-US"/>
        </a:p>
      </dgm:t>
    </dgm:pt>
    <dgm:pt modelId="{5DA3A858-1A7B-4949-B4EC-8E8AA241D411}" type="sibTrans" cxnId="{3D8BA1BF-B33E-4048-9D32-72308E807365}">
      <dgm:prSet/>
      <dgm:spPr/>
      <dgm:t>
        <a:bodyPr/>
        <a:lstStyle/>
        <a:p>
          <a:endParaRPr lang="en-US"/>
        </a:p>
      </dgm:t>
    </dgm:pt>
    <dgm:pt modelId="{59BF2D26-8F59-4693-B3F4-031B6866D5DB}" type="asst">
      <dgm:prSet phldrT="[Text]"/>
      <dgm:spPr/>
      <dgm:t>
        <a:bodyPr/>
        <a:lstStyle/>
        <a:p>
          <a:r>
            <a:rPr lang="en-US" dirty="0"/>
            <a:t>Finance &amp; Administration (Part-Time / Outsourced) Accounting Payments &amp; Invoicing Legal Documentation</a:t>
          </a:r>
        </a:p>
      </dgm:t>
    </dgm:pt>
    <dgm:pt modelId="{E413CCD9-F6DF-486B-981A-8453B238458E}" type="parTrans" cxnId="{A10C262A-1235-428E-82B4-DDA6746E298B}">
      <dgm:prSet/>
      <dgm:spPr/>
      <dgm:t>
        <a:bodyPr/>
        <a:lstStyle/>
        <a:p>
          <a:endParaRPr lang="en-US"/>
        </a:p>
      </dgm:t>
    </dgm:pt>
    <dgm:pt modelId="{06CA75FB-59C5-4B94-AF6F-92ED6A8A11E6}" type="sibTrans" cxnId="{A10C262A-1235-428E-82B4-DDA6746E298B}">
      <dgm:prSet/>
      <dgm:spPr/>
      <dgm:t>
        <a:bodyPr/>
        <a:lstStyle/>
        <a:p>
          <a:endParaRPr lang="en-US"/>
        </a:p>
      </dgm:t>
    </dgm:pt>
    <dgm:pt modelId="{D411EF70-8478-4EA8-BF68-E78B2A887B29}" type="asst">
      <dgm:prSet phldrT="[Text]"/>
      <dgm:spPr/>
      <dgm:t>
        <a:bodyPr/>
        <a:lstStyle/>
        <a:p>
          <a:r>
            <a:rPr lang="en-US" dirty="0"/>
            <a:t>Software Developers </a:t>
          </a:r>
          <a:br>
            <a:rPr lang="ka-GE" dirty="0"/>
          </a:br>
          <a:r>
            <a:rPr lang="en-US" dirty="0"/>
            <a:t>Chatbot Development AI Logic &amp; Integrations Testing &amp; Improvements</a:t>
          </a:r>
        </a:p>
      </dgm:t>
    </dgm:pt>
    <dgm:pt modelId="{567BD342-E87B-4061-9E29-4FECC71A072A}" type="parTrans" cxnId="{B319B1C4-F8CE-4D81-B3B2-FF7BFB1395CE}">
      <dgm:prSet/>
      <dgm:spPr/>
      <dgm:t>
        <a:bodyPr/>
        <a:lstStyle/>
        <a:p>
          <a:endParaRPr lang="en-US"/>
        </a:p>
      </dgm:t>
    </dgm:pt>
    <dgm:pt modelId="{7C1CE286-7918-4F13-AA96-89A2DCD1F81F}" type="sibTrans" cxnId="{B319B1C4-F8CE-4D81-B3B2-FF7BFB1395CE}">
      <dgm:prSet/>
      <dgm:spPr/>
      <dgm:t>
        <a:bodyPr/>
        <a:lstStyle/>
        <a:p>
          <a:endParaRPr lang="en-US"/>
        </a:p>
      </dgm:t>
    </dgm:pt>
    <dgm:pt modelId="{6FADA07F-06A2-4FBF-9BA7-08F6647902EA}" type="pres">
      <dgm:prSet presAssocID="{D7E5FB34-CFB3-4D00-84E0-4181D21E9A30}" presName="hierChild1" presStyleCnt="0">
        <dgm:presLayoutVars>
          <dgm:orgChart val="1"/>
          <dgm:chPref val="1"/>
          <dgm:dir/>
          <dgm:animOne val="branch"/>
          <dgm:animLvl val="lvl"/>
          <dgm:resizeHandles/>
        </dgm:presLayoutVars>
      </dgm:prSet>
      <dgm:spPr/>
    </dgm:pt>
    <dgm:pt modelId="{BFFF523E-A6CD-4F3B-A080-ADF6AF669F27}" type="pres">
      <dgm:prSet presAssocID="{BA52485E-FEF4-4623-8779-67C926007165}" presName="hierRoot1" presStyleCnt="0">
        <dgm:presLayoutVars>
          <dgm:hierBranch val="init"/>
        </dgm:presLayoutVars>
      </dgm:prSet>
      <dgm:spPr/>
    </dgm:pt>
    <dgm:pt modelId="{E3735E30-B104-46E7-8893-A52B5F745CC6}" type="pres">
      <dgm:prSet presAssocID="{BA52485E-FEF4-4623-8779-67C926007165}" presName="rootComposite1" presStyleCnt="0"/>
      <dgm:spPr/>
    </dgm:pt>
    <dgm:pt modelId="{E4154B62-EC72-4A74-90B5-C182CCC7B602}" type="pres">
      <dgm:prSet presAssocID="{BA52485E-FEF4-4623-8779-67C926007165}" presName="rootText1" presStyleLbl="node0" presStyleIdx="0" presStyleCnt="1">
        <dgm:presLayoutVars>
          <dgm:chPref val="3"/>
        </dgm:presLayoutVars>
      </dgm:prSet>
      <dgm:spPr/>
    </dgm:pt>
    <dgm:pt modelId="{DB32E69A-E8E1-4AA3-934D-03157E6231D8}" type="pres">
      <dgm:prSet presAssocID="{BA52485E-FEF4-4623-8779-67C926007165}" presName="rootConnector1" presStyleLbl="node1" presStyleIdx="0" presStyleCnt="0"/>
      <dgm:spPr/>
    </dgm:pt>
    <dgm:pt modelId="{98F8068D-0F4E-4014-BA5A-64751A843DE4}" type="pres">
      <dgm:prSet presAssocID="{BA52485E-FEF4-4623-8779-67C926007165}" presName="hierChild2" presStyleCnt="0"/>
      <dgm:spPr/>
    </dgm:pt>
    <dgm:pt modelId="{3AA8138D-C7D4-4DF6-8887-3825541D9117}" type="pres">
      <dgm:prSet presAssocID="{BA52485E-FEF4-4623-8779-67C926007165}" presName="hierChild3" presStyleCnt="0"/>
      <dgm:spPr/>
    </dgm:pt>
    <dgm:pt modelId="{B87656DA-6941-4641-8A53-ABAB4A7C2B5D}" type="pres">
      <dgm:prSet presAssocID="{942F4345-1BE7-4839-949C-DC0B71C1C1F1}" presName="Name111" presStyleLbl="parChTrans1D2" presStyleIdx="0" presStyleCnt="4"/>
      <dgm:spPr/>
    </dgm:pt>
    <dgm:pt modelId="{2D04CDC8-5F03-42C5-B4B0-F95D449BBD90}" type="pres">
      <dgm:prSet presAssocID="{FF5A2735-2C98-4411-B6F7-57AFC2040DAA}" presName="hierRoot3" presStyleCnt="0">
        <dgm:presLayoutVars>
          <dgm:hierBranch val="init"/>
        </dgm:presLayoutVars>
      </dgm:prSet>
      <dgm:spPr/>
    </dgm:pt>
    <dgm:pt modelId="{A53C165A-EE5D-4CAD-879F-F65B2B5E7783}" type="pres">
      <dgm:prSet presAssocID="{FF5A2735-2C98-4411-B6F7-57AFC2040DAA}" presName="rootComposite3" presStyleCnt="0"/>
      <dgm:spPr/>
    </dgm:pt>
    <dgm:pt modelId="{51739DCF-4081-4E8C-827A-9B5136A68B21}" type="pres">
      <dgm:prSet presAssocID="{FF5A2735-2C98-4411-B6F7-57AFC2040DAA}" presName="rootText3" presStyleLbl="asst1" presStyleIdx="0" presStyleCnt="4">
        <dgm:presLayoutVars>
          <dgm:chPref val="3"/>
        </dgm:presLayoutVars>
      </dgm:prSet>
      <dgm:spPr/>
    </dgm:pt>
    <dgm:pt modelId="{4E1BCE2C-721D-44AC-8E72-A985AE74DECD}" type="pres">
      <dgm:prSet presAssocID="{FF5A2735-2C98-4411-B6F7-57AFC2040DAA}" presName="rootConnector3" presStyleLbl="asst1" presStyleIdx="0" presStyleCnt="4"/>
      <dgm:spPr/>
    </dgm:pt>
    <dgm:pt modelId="{525CAE73-979F-459F-8949-D531028D94B3}" type="pres">
      <dgm:prSet presAssocID="{FF5A2735-2C98-4411-B6F7-57AFC2040DAA}" presName="hierChild6" presStyleCnt="0"/>
      <dgm:spPr/>
    </dgm:pt>
    <dgm:pt modelId="{26E66DAA-57F6-4610-8B01-5CC0E74330D4}" type="pres">
      <dgm:prSet presAssocID="{FF5A2735-2C98-4411-B6F7-57AFC2040DAA}" presName="hierChild7" presStyleCnt="0"/>
      <dgm:spPr/>
    </dgm:pt>
    <dgm:pt modelId="{5B28FEA2-F862-42A0-AA5F-687BE652E99E}" type="pres">
      <dgm:prSet presAssocID="{27220821-408F-41E2-8087-1D1C1D452407}" presName="Name111" presStyleLbl="parChTrans1D2" presStyleIdx="1" presStyleCnt="4"/>
      <dgm:spPr/>
    </dgm:pt>
    <dgm:pt modelId="{4ABC0A97-9794-459C-B15A-DD79D9A7C172}" type="pres">
      <dgm:prSet presAssocID="{6FEE460E-D596-40EC-9A64-66FE559523FF}" presName="hierRoot3" presStyleCnt="0">
        <dgm:presLayoutVars>
          <dgm:hierBranch val="init"/>
        </dgm:presLayoutVars>
      </dgm:prSet>
      <dgm:spPr/>
    </dgm:pt>
    <dgm:pt modelId="{6FA942F4-C229-479F-BCE6-1DFB0EC8F5C8}" type="pres">
      <dgm:prSet presAssocID="{6FEE460E-D596-40EC-9A64-66FE559523FF}" presName="rootComposite3" presStyleCnt="0"/>
      <dgm:spPr/>
    </dgm:pt>
    <dgm:pt modelId="{186AE832-81AE-4F8C-8C8D-E2A103F11CCB}" type="pres">
      <dgm:prSet presAssocID="{6FEE460E-D596-40EC-9A64-66FE559523FF}" presName="rootText3" presStyleLbl="asst1" presStyleIdx="1" presStyleCnt="4">
        <dgm:presLayoutVars>
          <dgm:chPref val="3"/>
        </dgm:presLayoutVars>
      </dgm:prSet>
      <dgm:spPr/>
    </dgm:pt>
    <dgm:pt modelId="{8CAB043C-8F93-4398-A96A-2A45ED1A4168}" type="pres">
      <dgm:prSet presAssocID="{6FEE460E-D596-40EC-9A64-66FE559523FF}" presName="rootConnector3" presStyleLbl="asst1" presStyleIdx="1" presStyleCnt="4"/>
      <dgm:spPr/>
    </dgm:pt>
    <dgm:pt modelId="{E8B1AC60-FAE2-4BFF-800A-84B669B1A656}" type="pres">
      <dgm:prSet presAssocID="{6FEE460E-D596-40EC-9A64-66FE559523FF}" presName="hierChild6" presStyleCnt="0"/>
      <dgm:spPr/>
    </dgm:pt>
    <dgm:pt modelId="{DF50C66D-1038-4526-A95A-E9E9BD7CBC95}" type="pres">
      <dgm:prSet presAssocID="{6FEE460E-D596-40EC-9A64-66FE559523FF}" presName="hierChild7" presStyleCnt="0"/>
      <dgm:spPr/>
    </dgm:pt>
    <dgm:pt modelId="{41F7C2E6-2B90-4184-9A1D-C66AFDFD802C}" type="pres">
      <dgm:prSet presAssocID="{E413CCD9-F6DF-486B-981A-8453B238458E}" presName="Name111" presStyleLbl="parChTrans1D2" presStyleIdx="2" presStyleCnt="4"/>
      <dgm:spPr/>
    </dgm:pt>
    <dgm:pt modelId="{08E16F19-493F-4FCD-9C8A-105E583C5134}" type="pres">
      <dgm:prSet presAssocID="{59BF2D26-8F59-4693-B3F4-031B6866D5DB}" presName="hierRoot3" presStyleCnt="0">
        <dgm:presLayoutVars>
          <dgm:hierBranch val="init"/>
        </dgm:presLayoutVars>
      </dgm:prSet>
      <dgm:spPr/>
    </dgm:pt>
    <dgm:pt modelId="{194C60FE-AF63-46F3-BAFD-C1BDF5791F7A}" type="pres">
      <dgm:prSet presAssocID="{59BF2D26-8F59-4693-B3F4-031B6866D5DB}" presName="rootComposite3" presStyleCnt="0"/>
      <dgm:spPr/>
    </dgm:pt>
    <dgm:pt modelId="{3677535A-08EF-4634-B77B-B04B1D6671C2}" type="pres">
      <dgm:prSet presAssocID="{59BF2D26-8F59-4693-B3F4-031B6866D5DB}" presName="rootText3" presStyleLbl="asst1" presStyleIdx="2" presStyleCnt="4">
        <dgm:presLayoutVars>
          <dgm:chPref val="3"/>
        </dgm:presLayoutVars>
      </dgm:prSet>
      <dgm:spPr/>
    </dgm:pt>
    <dgm:pt modelId="{EE7DDF66-ECDE-4DF9-B96C-7E17B2763189}" type="pres">
      <dgm:prSet presAssocID="{59BF2D26-8F59-4693-B3F4-031B6866D5DB}" presName="rootConnector3" presStyleLbl="asst1" presStyleIdx="2" presStyleCnt="4"/>
      <dgm:spPr/>
    </dgm:pt>
    <dgm:pt modelId="{15C2BCBD-2372-4FAB-A930-CE79F5167C29}" type="pres">
      <dgm:prSet presAssocID="{59BF2D26-8F59-4693-B3F4-031B6866D5DB}" presName="hierChild6" presStyleCnt="0"/>
      <dgm:spPr/>
    </dgm:pt>
    <dgm:pt modelId="{A9F498B8-C81C-44EC-9570-20CB87AE938F}" type="pres">
      <dgm:prSet presAssocID="{59BF2D26-8F59-4693-B3F4-031B6866D5DB}" presName="hierChild7" presStyleCnt="0"/>
      <dgm:spPr/>
    </dgm:pt>
    <dgm:pt modelId="{32180F36-F9DC-4964-A184-69E11343AA9B}" type="pres">
      <dgm:prSet presAssocID="{567BD342-E87B-4061-9E29-4FECC71A072A}" presName="Name111" presStyleLbl="parChTrans1D2" presStyleIdx="3" presStyleCnt="4"/>
      <dgm:spPr/>
    </dgm:pt>
    <dgm:pt modelId="{7890620C-5EB7-4E1F-A79C-28658BFEA1B9}" type="pres">
      <dgm:prSet presAssocID="{D411EF70-8478-4EA8-BF68-E78B2A887B29}" presName="hierRoot3" presStyleCnt="0">
        <dgm:presLayoutVars>
          <dgm:hierBranch val="init"/>
        </dgm:presLayoutVars>
      </dgm:prSet>
      <dgm:spPr/>
    </dgm:pt>
    <dgm:pt modelId="{527FB8BE-4B1B-4063-B8FD-9B013F4D6C62}" type="pres">
      <dgm:prSet presAssocID="{D411EF70-8478-4EA8-BF68-E78B2A887B29}" presName="rootComposite3" presStyleCnt="0"/>
      <dgm:spPr/>
    </dgm:pt>
    <dgm:pt modelId="{F64DD044-5EB3-4D6B-A039-DA1E7942032D}" type="pres">
      <dgm:prSet presAssocID="{D411EF70-8478-4EA8-BF68-E78B2A887B29}" presName="rootText3" presStyleLbl="asst1" presStyleIdx="3" presStyleCnt="4">
        <dgm:presLayoutVars>
          <dgm:chPref val="3"/>
        </dgm:presLayoutVars>
      </dgm:prSet>
      <dgm:spPr/>
    </dgm:pt>
    <dgm:pt modelId="{AAA46602-5D2C-4B53-B022-5458F8054B5E}" type="pres">
      <dgm:prSet presAssocID="{D411EF70-8478-4EA8-BF68-E78B2A887B29}" presName="rootConnector3" presStyleLbl="asst1" presStyleIdx="3" presStyleCnt="4"/>
      <dgm:spPr/>
    </dgm:pt>
    <dgm:pt modelId="{6E499088-8DE1-40CA-A59A-5118B60A025B}" type="pres">
      <dgm:prSet presAssocID="{D411EF70-8478-4EA8-BF68-E78B2A887B29}" presName="hierChild6" presStyleCnt="0"/>
      <dgm:spPr/>
    </dgm:pt>
    <dgm:pt modelId="{E3BDE213-B991-4935-8185-76DA742291DE}" type="pres">
      <dgm:prSet presAssocID="{D411EF70-8478-4EA8-BF68-E78B2A887B29}" presName="hierChild7" presStyleCnt="0"/>
      <dgm:spPr/>
    </dgm:pt>
  </dgm:ptLst>
  <dgm:cxnLst>
    <dgm:cxn modelId="{FF59820A-75D4-47C0-B6B1-97F1CC7F2DBA}" type="presOf" srcId="{FF5A2735-2C98-4411-B6F7-57AFC2040DAA}" destId="{4E1BCE2C-721D-44AC-8E72-A985AE74DECD}" srcOrd="1" destOrd="0" presId="urn:microsoft.com/office/officeart/2005/8/layout/orgChart1"/>
    <dgm:cxn modelId="{FE27300F-62FC-44A4-B7BE-A36A400CA67F}" type="presOf" srcId="{D7E5FB34-CFB3-4D00-84E0-4181D21E9A30}" destId="{6FADA07F-06A2-4FBF-9BA7-08F6647902EA}" srcOrd="0" destOrd="0" presId="urn:microsoft.com/office/officeart/2005/8/layout/orgChart1"/>
    <dgm:cxn modelId="{FDDA6F18-1B30-4671-BD8C-8979992D9DCF}" type="presOf" srcId="{567BD342-E87B-4061-9E29-4FECC71A072A}" destId="{32180F36-F9DC-4964-A184-69E11343AA9B}" srcOrd="0" destOrd="0" presId="urn:microsoft.com/office/officeart/2005/8/layout/orgChart1"/>
    <dgm:cxn modelId="{30BFFA23-A313-4421-B3CF-4CDD296D7A94}" type="presOf" srcId="{59BF2D26-8F59-4693-B3F4-031B6866D5DB}" destId="{3677535A-08EF-4634-B77B-B04B1D6671C2}" srcOrd="0" destOrd="0" presId="urn:microsoft.com/office/officeart/2005/8/layout/orgChart1"/>
    <dgm:cxn modelId="{A10C262A-1235-428E-82B4-DDA6746E298B}" srcId="{BA52485E-FEF4-4623-8779-67C926007165}" destId="{59BF2D26-8F59-4693-B3F4-031B6866D5DB}" srcOrd="2" destOrd="0" parTransId="{E413CCD9-F6DF-486B-981A-8453B238458E}" sibTransId="{06CA75FB-59C5-4B94-AF6F-92ED6A8A11E6}"/>
    <dgm:cxn modelId="{B0CAF02A-BF53-4AB4-A9F3-20E5D3516973}" type="presOf" srcId="{D411EF70-8478-4EA8-BF68-E78B2A887B29}" destId="{AAA46602-5D2C-4B53-B022-5458F8054B5E}" srcOrd="1" destOrd="0" presId="urn:microsoft.com/office/officeart/2005/8/layout/orgChart1"/>
    <dgm:cxn modelId="{F346C32E-E835-4A48-B576-47D4A2EDE95E}" type="presOf" srcId="{D411EF70-8478-4EA8-BF68-E78B2A887B29}" destId="{F64DD044-5EB3-4D6B-A039-DA1E7942032D}" srcOrd="0" destOrd="0" presId="urn:microsoft.com/office/officeart/2005/8/layout/orgChart1"/>
    <dgm:cxn modelId="{614BEA2F-12FC-4E7D-952D-DE468969D510}" type="presOf" srcId="{6FEE460E-D596-40EC-9A64-66FE559523FF}" destId="{186AE832-81AE-4F8C-8C8D-E2A103F11CCB}" srcOrd="0" destOrd="0" presId="urn:microsoft.com/office/officeart/2005/8/layout/orgChart1"/>
    <dgm:cxn modelId="{9931C53D-6C25-4CC9-8B73-0050763B8126}" srcId="{D7E5FB34-CFB3-4D00-84E0-4181D21E9A30}" destId="{BA52485E-FEF4-4623-8779-67C926007165}" srcOrd="0" destOrd="0" parTransId="{941EDEF1-3851-4B91-A1C6-0CC0C6DB49F4}" sibTransId="{F6504274-518F-469F-BD54-327372F7EA0E}"/>
    <dgm:cxn modelId="{07144470-E744-4B92-AF49-9A831346484F}" type="presOf" srcId="{E413CCD9-F6DF-486B-981A-8453B238458E}" destId="{41F7C2E6-2B90-4184-9A1D-C66AFDFD802C}" srcOrd="0" destOrd="0" presId="urn:microsoft.com/office/officeart/2005/8/layout/orgChart1"/>
    <dgm:cxn modelId="{073ABE54-45BA-4BCC-AF30-659B9E887FE5}" type="presOf" srcId="{FF5A2735-2C98-4411-B6F7-57AFC2040DAA}" destId="{51739DCF-4081-4E8C-827A-9B5136A68B21}" srcOrd="0" destOrd="0" presId="urn:microsoft.com/office/officeart/2005/8/layout/orgChart1"/>
    <dgm:cxn modelId="{B2AA1C79-85BC-4B20-A44B-0BA2F2AD646F}" type="presOf" srcId="{6FEE460E-D596-40EC-9A64-66FE559523FF}" destId="{8CAB043C-8F93-4398-A96A-2A45ED1A4168}" srcOrd="1" destOrd="0" presId="urn:microsoft.com/office/officeart/2005/8/layout/orgChart1"/>
    <dgm:cxn modelId="{2C127B82-7C0C-45F6-B99C-6B9A9EDF286E}" type="presOf" srcId="{59BF2D26-8F59-4693-B3F4-031B6866D5DB}" destId="{EE7DDF66-ECDE-4DF9-B96C-7E17B2763189}" srcOrd="1" destOrd="0" presId="urn:microsoft.com/office/officeart/2005/8/layout/orgChart1"/>
    <dgm:cxn modelId="{405B5FA2-C1C0-49F7-B14B-E34501241B0A}" type="presOf" srcId="{BA52485E-FEF4-4623-8779-67C926007165}" destId="{DB32E69A-E8E1-4AA3-934D-03157E6231D8}" srcOrd="1" destOrd="0" presId="urn:microsoft.com/office/officeart/2005/8/layout/orgChart1"/>
    <dgm:cxn modelId="{758077B1-C1D4-4E6D-A897-208A949313D0}" type="presOf" srcId="{942F4345-1BE7-4839-949C-DC0B71C1C1F1}" destId="{B87656DA-6941-4641-8A53-ABAB4A7C2B5D}" srcOrd="0" destOrd="0" presId="urn:microsoft.com/office/officeart/2005/8/layout/orgChart1"/>
    <dgm:cxn modelId="{26FFC8B4-983D-4D7C-AD2D-E2284D9CD3CC}" type="presOf" srcId="{27220821-408F-41E2-8087-1D1C1D452407}" destId="{5B28FEA2-F862-42A0-AA5F-687BE652E99E}" srcOrd="0" destOrd="0" presId="urn:microsoft.com/office/officeart/2005/8/layout/orgChart1"/>
    <dgm:cxn modelId="{420DE1B5-D0BF-457B-BFFC-852F51C24052}" type="presOf" srcId="{BA52485E-FEF4-4623-8779-67C926007165}" destId="{E4154B62-EC72-4A74-90B5-C182CCC7B602}" srcOrd="0" destOrd="0" presId="urn:microsoft.com/office/officeart/2005/8/layout/orgChart1"/>
    <dgm:cxn modelId="{3D8BA1BF-B33E-4048-9D32-72308E807365}" srcId="{BA52485E-FEF4-4623-8779-67C926007165}" destId="{6FEE460E-D596-40EC-9A64-66FE559523FF}" srcOrd="1" destOrd="0" parTransId="{27220821-408F-41E2-8087-1D1C1D452407}" sibTransId="{5DA3A858-1A7B-4949-B4EC-8E8AA241D411}"/>
    <dgm:cxn modelId="{B319B1C4-F8CE-4D81-B3B2-FF7BFB1395CE}" srcId="{BA52485E-FEF4-4623-8779-67C926007165}" destId="{D411EF70-8478-4EA8-BF68-E78B2A887B29}" srcOrd="3" destOrd="0" parTransId="{567BD342-E87B-4061-9E29-4FECC71A072A}" sibTransId="{7C1CE286-7918-4F13-AA96-89A2DCD1F81F}"/>
    <dgm:cxn modelId="{777F55CC-FE6D-4495-858B-6BDCE293FC15}" srcId="{BA52485E-FEF4-4623-8779-67C926007165}" destId="{FF5A2735-2C98-4411-B6F7-57AFC2040DAA}" srcOrd="0" destOrd="0" parTransId="{942F4345-1BE7-4839-949C-DC0B71C1C1F1}" sibTransId="{302794E5-18EA-48B9-A402-E90C89614144}"/>
    <dgm:cxn modelId="{EF8FD567-F25B-4F87-914B-B4654DADEDB4}" type="presParOf" srcId="{6FADA07F-06A2-4FBF-9BA7-08F6647902EA}" destId="{BFFF523E-A6CD-4F3B-A080-ADF6AF669F27}" srcOrd="0" destOrd="0" presId="urn:microsoft.com/office/officeart/2005/8/layout/orgChart1"/>
    <dgm:cxn modelId="{036D55C2-C269-4259-BE35-362613B8AA5C}" type="presParOf" srcId="{BFFF523E-A6CD-4F3B-A080-ADF6AF669F27}" destId="{E3735E30-B104-46E7-8893-A52B5F745CC6}" srcOrd="0" destOrd="0" presId="urn:microsoft.com/office/officeart/2005/8/layout/orgChart1"/>
    <dgm:cxn modelId="{F6476019-1D5E-4D1C-98D5-8AD1645886C5}" type="presParOf" srcId="{E3735E30-B104-46E7-8893-A52B5F745CC6}" destId="{E4154B62-EC72-4A74-90B5-C182CCC7B602}" srcOrd="0" destOrd="0" presId="urn:microsoft.com/office/officeart/2005/8/layout/orgChart1"/>
    <dgm:cxn modelId="{F46BECD5-0312-4243-9416-C423111C7599}" type="presParOf" srcId="{E3735E30-B104-46E7-8893-A52B5F745CC6}" destId="{DB32E69A-E8E1-4AA3-934D-03157E6231D8}" srcOrd="1" destOrd="0" presId="urn:microsoft.com/office/officeart/2005/8/layout/orgChart1"/>
    <dgm:cxn modelId="{2FA3B8E2-4056-40D8-BC1C-DA5F1BC60689}" type="presParOf" srcId="{BFFF523E-A6CD-4F3B-A080-ADF6AF669F27}" destId="{98F8068D-0F4E-4014-BA5A-64751A843DE4}" srcOrd="1" destOrd="0" presId="urn:microsoft.com/office/officeart/2005/8/layout/orgChart1"/>
    <dgm:cxn modelId="{46C96437-BC59-4CC2-8921-0BF4A71E0616}" type="presParOf" srcId="{BFFF523E-A6CD-4F3B-A080-ADF6AF669F27}" destId="{3AA8138D-C7D4-4DF6-8887-3825541D9117}" srcOrd="2" destOrd="0" presId="urn:microsoft.com/office/officeart/2005/8/layout/orgChart1"/>
    <dgm:cxn modelId="{E0BFA0DD-6E78-479A-911F-3D1E4F1271FB}" type="presParOf" srcId="{3AA8138D-C7D4-4DF6-8887-3825541D9117}" destId="{B87656DA-6941-4641-8A53-ABAB4A7C2B5D}" srcOrd="0" destOrd="0" presId="urn:microsoft.com/office/officeart/2005/8/layout/orgChart1"/>
    <dgm:cxn modelId="{8B78B765-BFCE-48BC-8A7A-45CC5C5D570F}" type="presParOf" srcId="{3AA8138D-C7D4-4DF6-8887-3825541D9117}" destId="{2D04CDC8-5F03-42C5-B4B0-F95D449BBD90}" srcOrd="1" destOrd="0" presId="urn:microsoft.com/office/officeart/2005/8/layout/orgChart1"/>
    <dgm:cxn modelId="{8798BF27-E389-464A-A12D-561D5DA50446}" type="presParOf" srcId="{2D04CDC8-5F03-42C5-B4B0-F95D449BBD90}" destId="{A53C165A-EE5D-4CAD-879F-F65B2B5E7783}" srcOrd="0" destOrd="0" presId="urn:microsoft.com/office/officeart/2005/8/layout/orgChart1"/>
    <dgm:cxn modelId="{F700CA25-5462-4C53-9D69-E4B9FB314B43}" type="presParOf" srcId="{A53C165A-EE5D-4CAD-879F-F65B2B5E7783}" destId="{51739DCF-4081-4E8C-827A-9B5136A68B21}" srcOrd="0" destOrd="0" presId="urn:microsoft.com/office/officeart/2005/8/layout/orgChart1"/>
    <dgm:cxn modelId="{9C4D6557-D877-425B-B0CB-1D1137D31914}" type="presParOf" srcId="{A53C165A-EE5D-4CAD-879F-F65B2B5E7783}" destId="{4E1BCE2C-721D-44AC-8E72-A985AE74DECD}" srcOrd="1" destOrd="0" presId="urn:microsoft.com/office/officeart/2005/8/layout/orgChart1"/>
    <dgm:cxn modelId="{FADBF498-D264-4E65-BE10-B34241956A4B}" type="presParOf" srcId="{2D04CDC8-5F03-42C5-B4B0-F95D449BBD90}" destId="{525CAE73-979F-459F-8949-D531028D94B3}" srcOrd="1" destOrd="0" presId="urn:microsoft.com/office/officeart/2005/8/layout/orgChart1"/>
    <dgm:cxn modelId="{A57AEA03-E05C-44B4-A8D1-3A028DB7B042}" type="presParOf" srcId="{2D04CDC8-5F03-42C5-B4B0-F95D449BBD90}" destId="{26E66DAA-57F6-4610-8B01-5CC0E74330D4}" srcOrd="2" destOrd="0" presId="urn:microsoft.com/office/officeart/2005/8/layout/orgChart1"/>
    <dgm:cxn modelId="{3924D063-E3A6-4823-B49E-8A4A4E67B727}" type="presParOf" srcId="{3AA8138D-C7D4-4DF6-8887-3825541D9117}" destId="{5B28FEA2-F862-42A0-AA5F-687BE652E99E}" srcOrd="2" destOrd="0" presId="urn:microsoft.com/office/officeart/2005/8/layout/orgChart1"/>
    <dgm:cxn modelId="{F7AABAE5-869D-4716-9AD6-29DBE0726EFC}" type="presParOf" srcId="{3AA8138D-C7D4-4DF6-8887-3825541D9117}" destId="{4ABC0A97-9794-459C-B15A-DD79D9A7C172}" srcOrd="3" destOrd="0" presId="urn:microsoft.com/office/officeart/2005/8/layout/orgChart1"/>
    <dgm:cxn modelId="{871C9286-5F7A-4C55-ADD5-E09265C70DB4}" type="presParOf" srcId="{4ABC0A97-9794-459C-B15A-DD79D9A7C172}" destId="{6FA942F4-C229-479F-BCE6-1DFB0EC8F5C8}" srcOrd="0" destOrd="0" presId="urn:microsoft.com/office/officeart/2005/8/layout/orgChart1"/>
    <dgm:cxn modelId="{8E4AEC3E-EFB0-4EEC-B966-E3FA49531BE5}" type="presParOf" srcId="{6FA942F4-C229-479F-BCE6-1DFB0EC8F5C8}" destId="{186AE832-81AE-4F8C-8C8D-E2A103F11CCB}" srcOrd="0" destOrd="0" presId="urn:microsoft.com/office/officeart/2005/8/layout/orgChart1"/>
    <dgm:cxn modelId="{50C64D35-5D12-4394-8E7E-B4BB9B32772A}" type="presParOf" srcId="{6FA942F4-C229-479F-BCE6-1DFB0EC8F5C8}" destId="{8CAB043C-8F93-4398-A96A-2A45ED1A4168}" srcOrd="1" destOrd="0" presId="urn:microsoft.com/office/officeart/2005/8/layout/orgChart1"/>
    <dgm:cxn modelId="{167E0F83-6292-404C-93EA-11242BB4D915}" type="presParOf" srcId="{4ABC0A97-9794-459C-B15A-DD79D9A7C172}" destId="{E8B1AC60-FAE2-4BFF-800A-84B669B1A656}" srcOrd="1" destOrd="0" presId="urn:microsoft.com/office/officeart/2005/8/layout/orgChart1"/>
    <dgm:cxn modelId="{294075B9-E06F-4AD1-B093-59D1BEF9F0D9}" type="presParOf" srcId="{4ABC0A97-9794-459C-B15A-DD79D9A7C172}" destId="{DF50C66D-1038-4526-A95A-E9E9BD7CBC95}" srcOrd="2" destOrd="0" presId="urn:microsoft.com/office/officeart/2005/8/layout/orgChart1"/>
    <dgm:cxn modelId="{8C9ADDCB-349D-44F1-BC01-5354AF20EEEE}" type="presParOf" srcId="{3AA8138D-C7D4-4DF6-8887-3825541D9117}" destId="{41F7C2E6-2B90-4184-9A1D-C66AFDFD802C}" srcOrd="4" destOrd="0" presId="urn:microsoft.com/office/officeart/2005/8/layout/orgChart1"/>
    <dgm:cxn modelId="{B00DE590-FF2D-437D-97CE-E673C76BADA4}" type="presParOf" srcId="{3AA8138D-C7D4-4DF6-8887-3825541D9117}" destId="{08E16F19-493F-4FCD-9C8A-105E583C5134}" srcOrd="5" destOrd="0" presId="urn:microsoft.com/office/officeart/2005/8/layout/orgChart1"/>
    <dgm:cxn modelId="{EBE394E2-56F2-492D-A319-3BCCD0BB2E21}" type="presParOf" srcId="{08E16F19-493F-4FCD-9C8A-105E583C5134}" destId="{194C60FE-AF63-46F3-BAFD-C1BDF5791F7A}" srcOrd="0" destOrd="0" presId="urn:microsoft.com/office/officeart/2005/8/layout/orgChart1"/>
    <dgm:cxn modelId="{AAE91638-6EE4-469C-B181-AB214D0F05BF}" type="presParOf" srcId="{194C60FE-AF63-46F3-BAFD-C1BDF5791F7A}" destId="{3677535A-08EF-4634-B77B-B04B1D6671C2}" srcOrd="0" destOrd="0" presId="urn:microsoft.com/office/officeart/2005/8/layout/orgChart1"/>
    <dgm:cxn modelId="{9E7A79A6-2AA7-4C81-A6F5-B3784409744E}" type="presParOf" srcId="{194C60FE-AF63-46F3-BAFD-C1BDF5791F7A}" destId="{EE7DDF66-ECDE-4DF9-B96C-7E17B2763189}" srcOrd="1" destOrd="0" presId="urn:microsoft.com/office/officeart/2005/8/layout/orgChart1"/>
    <dgm:cxn modelId="{1E21F55A-EDE3-464C-B84A-23ACECD8F8F4}" type="presParOf" srcId="{08E16F19-493F-4FCD-9C8A-105E583C5134}" destId="{15C2BCBD-2372-4FAB-A930-CE79F5167C29}" srcOrd="1" destOrd="0" presId="urn:microsoft.com/office/officeart/2005/8/layout/orgChart1"/>
    <dgm:cxn modelId="{68C92A92-791E-46E8-AF3E-1FCEA56D12E3}" type="presParOf" srcId="{08E16F19-493F-4FCD-9C8A-105E583C5134}" destId="{A9F498B8-C81C-44EC-9570-20CB87AE938F}" srcOrd="2" destOrd="0" presId="urn:microsoft.com/office/officeart/2005/8/layout/orgChart1"/>
    <dgm:cxn modelId="{5871AE26-3D13-49D2-8731-DBCA2F55FCAB}" type="presParOf" srcId="{3AA8138D-C7D4-4DF6-8887-3825541D9117}" destId="{32180F36-F9DC-4964-A184-69E11343AA9B}" srcOrd="6" destOrd="0" presId="urn:microsoft.com/office/officeart/2005/8/layout/orgChart1"/>
    <dgm:cxn modelId="{67B0FCAF-CFA5-45FD-8ED6-F8C474CB2C2F}" type="presParOf" srcId="{3AA8138D-C7D4-4DF6-8887-3825541D9117}" destId="{7890620C-5EB7-4E1F-A79C-28658BFEA1B9}" srcOrd="7" destOrd="0" presId="urn:microsoft.com/office/officeart/2005/8/layout/orgChart1"/>
    <dgm:cxn modelId="{AA16ED88-D633-43C2-BE9A-B2147528AB3D}" type="presParOf" srcId="{7890620C-5EB7-4E1F-A79C-28658BFEA1B9}" destId="{527FB8BE-4B1B-4063-B8FD-9B013F4D6C62}" srcOrd="0" destOrd="0" presId="urn:microsoft.com/office/officeart/2005/8/layout/orgChart1"/>
    <dgm:cxn modelId="{8889AED8-F929-4764-A2BE-FAF0D1F35222}" type="presParOf" srcId="{527FB8BE-4B1B-4063-B8FD-9B013F4D6C62}" destId="{F64DD044-5EB3-4D6B-A039-DA1E7942032D}" srcOrd="0" destOrd="0" presId="urn:microsoft.com/office/officeart/2005/8/layout/orgChart1"/>
    <dgm:cxn modelId="{06CA7E5B-E3EA-4C6F-A85F-F01FC3A06E53}" type="presParOf" srcId="{527FB8BE-4B1B-4063-B8FD-9B013F4D6C62}" destId="{AAA46602-5D2C-4B53-B022-5458F8054B5E}" srcOrd="1" destOrd="0" presId="urn:microsoft.com/office/officeart/2005/8/layout/orgChart1"/>
    <dgm:cxn modelId="{CDA0E56E-2EB6-48CE-9E7F-368A789B0850}" type="presParOf" srcId="{7890620C-5EB7-4E1F-A79C-28658BFEA1B9}" destId="{6E499088-8DE1-40CA-A59A-5118B60A025B}" srcOrd="1" destOrd="0" presId="urn:microsoft.com/office/officeart/2005/8/layout/orgChart1"/>
    <dgm:cxn modelId="{6A1D34A8-0589-4A2D-903F-FF5539F503F7}" type="presParOf" srcId="{7890620C-5EB7-4E1F-A79C-28658BFEA1B9}" destId="{E3BDE213-B991-4935-8185-76DA742291D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80F36-F9DC-4964-A184-69E11343AA9B}">
      <dsp:nvSpPr>
        <dsp:cNvPr id="0" name=""/>
        <dsp:cNvSpPr/>
      </dsp:nvSpPr>
      <dsp:spPr>
        <a:xfrm>
          <a:off x="6095999" y="2119709"/>
          <a:ext cx="443805" cy="4945260"/>
        </a:xfrm>
        <a:custGeom>
          <a:avLst/>
          <a:gdLst/>
          <a:ahLst/>
          <a:cxnLst/>
          <a:rect l="0" t="0" r="0" b="0"/>
          <a:pathLst>
            <a:path>
              <a:moveTo>
                <a:pt x="0" y="0"/>
              </a:moveTo>
              <a:lnTo>
                <a:pt x="0" y="4945260"/>
              </a:lnTo>
              <a:lnTo>
                <a:pt x="443805" y="49452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F7C2E6-2B90-4184-9A1D-C66AFDFD802C}">
      <dsp:nvSpPr>
        <dsp:cNvPr id="0" name=""/>
        <dsp:cNvSpPr/>
      </dsp:nvSpPr>
      <dsp:spPr>
        <a:xfrm>
          <a:off x="5652194" y="2119709"/>
          <a:ext cx="443805" cy="4945260"/>
        </a:xfrm>
        <a:custGeom>
          <a:avLst/>
          <a:gdLst/>
          <a:ahLst/>
          <a:cxnLst/>
          <a:rect l="0" t="0" r="0" b="0"/>
          <a:pathLst>
            <a:path>
              <a:moveTo>
                <a:pt x="443805" y="0"/>
              </a:moveTo>
              <a:lnTo>
                <a:pt x="443805" y="4945260"/>
              </a:lnTo>
              <a:lnTo>
                <a:pt x="0" y="49452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28FEA2-F862-42A0-AA5F-687BE652E99E}">
      <dsp:nvSpPr>
        <dsp:cNvPr id="0" name=""/>
        <dsp:cNvSpPr/>
      </dsp:nvSpPr>
      <dsp:spPr>
        <a:xfrm>
          <a:off x="6095999" y="2119709"/>
          <a:ext cx="443805" cy="1944290"/>
        </a:xfrm>
        <a:custGeom>
          <a:avLst/>
          <a:gdLst/>
          <a:ahLst/>
          <a:cxnLst/>
          <a:rect l="0" t="0" r="0" b="0"/>
          <a:pathLst>
            <a:path>
              <a:moveTo>
                <a:pt x="0" y="0"/>
              </a:moveTo>
              <a:lnTo>
                <a:pt x="0" y="1944290"/>
              </a:lnTo>
              <a:lnTo>
                <a:pt x="443805" y="194429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7656DA-6941-4641-8A53-ABAB4A7C2B5D}">
      <dsp:nvSpPr>
        <dsp:cNvPr id="0" name=""/>
        <dsp:cNvSpPr/>
      </dsp:nvSpPr>
      <dsp:spPr>
        <a:xfrm>
          <a:off x="5652194" y="2119709"/>
          <a:ext cx="443805" cy="1944290"/>
        </a:xfrm>
        <a:custGeom>
          <a:avLst/>
          <a:gdLst/>
          <a:ahLst/>
          <a:cxnLst/>
          <a:rect l="0" t="0" r="0" b="0"/>
          <a:pathLst>
            <a:path>
              <a:moveTo>
                <a:pt x="443805" y="0"/>
              </a:moveTo>
              <a:lnTo>
                <a:pt x="443805" y="1944290"/>
              </a:lnTo>
              <a:lnTo>
                <a:pt x="0" y="194429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154B62-EC72-4A74-90B5-C182CCC7B602}">
      <dsp:nvSpPr>
        <dsp:cNvPr id="0" name=""/>
        <dsp:cNvSpPr/>
      </dsp:nvSpPr>
      <dsp:spPr>
        <a:xfrm>
          <a:off x="3982640" y="6350"/>
          <a:ext cx="4226718" cy="21133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Founder / General Manager </a:t>
          </a:r>
          <a:br>
            <a:rPr lang="en-US" sz="2900" kern="1200" dirty="0"/>
          </a:br>
          <a:r>
            <a:rPr lang="en-US" sz="2900" kern="1200" dirty="0"/>
            <a:t>Overall Management &amp; Strategy</a:t>
          </a:r>
        </a:p>
      </dsp:txBody>
      <dsp:txXfrm>
        <a:off x="3982640" y="6350"/>
        <a:ext cx="4226718" cy="2113359"/>
      </dsp:txXfrm>
    </dsp:sp>
    <dsp:sp modelId="{51739DCF-4081-4E8C-827A-9B5136A68B21}">
      <dsp:nvSpPr>
        <dsp:cNvPr id="0" name=""/>
        <dsp:cNvSpPr/>
      </dsp:nvSpPr>
      <dsp:spPr>
        <a:xfrm>
          <a:off x="1425475" y="3007320"/>
          <a:ext cx="4226718" cy="21133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Technical &amp; Operations Lead </a:t>
          </a:r>
          <a:br>
            <a:rPr lang="en-US" sz="2900" kern="1200" dirty="0"/>
          </a:br>
          <a:r>
            <a:rPr lang="en-US" sz="2900" kern="1200" dirty="0"/>
            <a:t>Chatbot Development Platform Maintenance Client Integrations</a:t>
          </a:r>
        </a:p>
      </dsp:txBody>
      <dsp:txXfrm>
        <a:off x="1425475" y="3007320"/>
        <a:ext cx="4226718" cy="2113359"/>
      </dsp:txXfrm>
    </dsp:sp>
    <dsp:sp modelId="{186AE832-81AE-4F8C-8C8D-E2A103F11CCB}">
      <dsp:nvSpPr>
        <dsp:cNvPr id="0" name=""/>
        <dsp:cNvSpPr/>
      </dsp:nvSpPr>
      <dsp:spPr>
        <a:xfrm>
          <a:off x="6539805" y="3007320"/>
          <a:ext cx="4226718" cy="21133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Marketing &amp; Sales Lead Client Acquisition Digital Marketing Partnership Management</a:t>
          </a:r>
        </a:p>
      </dsp:txBody>
      <dsp:txXfrm>
        <a:off x="6539805" y="3007320"/>
        <a:ext cx="4226718" cy="2113359"/>
      </dsp:txXfrm>
    </dsp:sp>
    <dsp:sp modelId="{3677535A-08EF-4634-B77B-B04B1D6671C2}">
      <dsp:nvSpPr>
        <dsp:cNvPr id="0" name=""/>
        <dsp:cNvSpPr/>
      </dsp:nvSpPr>
      <dsp:spPr>
        <a:xfrm>
          <a:off x="1425475" y="6008290"/>
          <a:ext cx="4226718" cy="21133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Finance &amp; Administration (Part-Time / Outsourced) Accounting Payments &amp; Invoicing Legal Documentation</a:t>
          </a:r>
        </a:p>
      </dsp:txBody>
      <dsp:txXfrm>
        <a:off x="1425475" y="6008290"/>
        <a:ext cx="4226718" cy="2113359"/>
      </dsp:txXfrm>
    </dsp:sp>
    <dsp:sp modelId="{F64DD044-5EB3-4D6B-A039-DA1E7942032D}">
      <dsp:nvSpPr>
        <dsp:cNvPr id="0" name=""/>
        <dsp:cNvSpPr/>
      </dsp:nvSpPr>
      <dsp:spPr>
        <a:xfrm>
          <a:off x="6539805" y="6008290"/>
          <a:ext cx="4226718" cy="21133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Software Developers </a:t>
          </a:r>
          <a:br>
            <a:rPr lang="ka-GE" sz="2900" kern="1200" dirty="0"/>
          </a:br>
          <a:r>
            <a:rPr lang="en-US" sz="2900" kern="1200" dirty="0"/>
            <a:t>Chatbot Development AI Logic &amp; Integrations Testing &amp; Improvements</a:t>
          </a:r>
        </a:p>
      </dsp:txBody>
      <dsp:txXfrm>
        <a:off x="6539805" y="6008290"/>
        <a:ext cx="4226718" cy="211335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dirty="0"/>
          </a:p>
        </p:txBody>
      </p:sp>
      <p:sp>
        <p:nvSpPr>
          <p:cNvPr id="3" name="TextBox 3"/>
          <p:cNvSpPr txBox="1"/>
          <p:nvPr/>
        </p:nvSpPr>
        <p:spPr>
          <a:xfrm>
            <a:off x="750519" y="2834417"/>
            <a:ext cx="7590022" cy="1359346"/>
          </a:xfrm>
          <a:prstGeom prst="rect">
            <a:avLst/>
          </a:prstGeom>
        </p:spPr>
        <p:txBody>
          <a:bodyPr wrap="square" lIns="0" tIns="0" rIns="0" bIns="0" rtlCol="0" anchor="t">
            <a:spAutoFit/>
          </a:bodyPr>
          <a:lstStyle/>
          <a:p>
            <a:pPr algn="l">
              <a:lnSpc>
                <a:spcPts val="10560"/>
              </a:lnSpc>
            </a:pPr>
            <a:r>
              <a:rPr lang="ka-GE" sz="9599" b="1" spc="-95" dirty="0">
                <a:solidFill>
                  <a:srgbClr val="0048CD"/>
                </a:solidFill>
                <a:latin typeface="Muli Bold"/>
                <a:ea typeface="Muli Bold"/>
                <a:cs typeface="Muli Bold"/>
                <a:sym typeface="Muli Bold"/>
              </a:rPr>
              <a:t>ბიზნეს გეგმა</a:t>
            </a:r>
            <a:endParaRPr lang="en-US" sz="9599" b="1" spc="-95" dirty="0">
              <a:solidFill>
                <a:srgbClr val="0048CD"/>
              </a:solidFill>
              <a:latin typeface="Muli Bold"/>
              <a:ea typeface="Muli Bold"/>
              <a:cs typeface="Muli Bold"/>
              <a:sym typeface="Muli Bold"/>
            </a:endParaRPr>
          </a:p>
        </p:txBody>
      </p:sp>
      <p:sp>
        <p:nvSpPr>
          <p:cNvPr id="4" name="TextBox 4"/>
          <p:cNvSpPr txBox="1"/>
          <p:nvPr/>
        </p:nvSpPr>
        <p:spPr>
          <a:xfrm>
            <a:off x="1433396" y="8676216"/>
            <a:ext cx="5473750" cy="528991"/>
          </a:xfrm>
          <a:prstGeom prst="rect">
            <a:avLst/>
          </a:prstGeom>
        </p:spPr>
        <p:txBody>
          <a:bodyPr wrap="square" lIns="0" tIns="0" rIns="0" bIns="0" rtlCol="0" anchor="t">
            <a:spAutoFit/>
          </a:bodyPr>
          <a:lstStyle/>
          <a:p>
            <a:pPr algn="l">
              <a:lnSpc>
                <a:spcPts val="3919"/>
              </a:lnSpc>
              <a:spcBef>
                <a:spcPct val="0"/>
              </a:spcBef>
            </a:pPr>
            <a:r>
              <a:rPr lang="ka-GE" sz="4400" dirty="0">
                <a:solidFill>
                  <a:srgbClr val="000000"/>
                </a:solidFill>
                <a:latin typeface="Muli"/>
                <a:ea typeface="Muli"/>
                <a:cs typeface="Muli"/>
                <a:sym typeface="Muli"/>
              </a:rPr>
              <a:t>ნიკოლოზ კორძახია</a:t>
            </a:r>
            <a:endParaRPr lang="en-US" sz="4400" dirty="0">
              <a:solidFill>
                <a:srgbClr val="000000"/>
              </a:solidFill>
              <a:latin typeface="Muli"/>
              <a:ea typeface="Muli"/>
              <a:cs typeface="Muli"/>
              <a:sym typeface="Muli"/>
            </a:endParaRPr>
          </a:p>
        </p:txBody>
      </p:sp>
      <p:grpSp>
        <p:nvGrpSpPr>
          <p:cNvPr id="6" name="Group 6"/>
          <p:cNvGrpSpPr/>
          <p:nvPr/>
        </p:nvGrpSpPr>
        <p:grpSpPr>
          <a:xfrm>
            <a:off x="9506244" y="4111173"/>
            <a:ext cx="6450066" cy="4618896"/>
            <a:chOff x="0" y="0"/>
            <a:chExt cx="1835257" cy="1314229"/>
          </a:xfrm>
        </p:grpSpPr>
        <p:sp>
          <p:nvSpPr>
            <p:cNvPr id="7" name="Freeform 7"/>
            <p:cNvSpPr/>
            <p:nvPr/>
          </p:nvSpPr>
          <p:spPr>
            <a:xfrm>
              <a:off x="0" y="0"/>
              <a:ext cx="1835258" cy="1314229"/>
            </a:xfrm>
            <a:custGeom>
              <a:avLst/>
              <a:gdLst/>
              <a:ahLst/>
              <a:cxnLst/>
              <a:rect l="l" t="t" r="r" b="b"/>
              <a:pathLst>
                <a:path w="1835258" h="1314229">
                  <a:moveTo>
                    <a:pt x="1710797" y="1314229"/>
                  </a:moveTo>
                  <a:lnTo>
                    <a:pt x="124460" y="1314229"/>
                  </a:lnTo>
                  <a:cubicBezTo>
                    <a:pt x="55880" y="1314229"/>
                    <a:pt x="0" y="1258349"/>
                    <a:pt x="0" y="1189769"/>
                  </a:cubicBezTo>
                  <a:lnTo>
                    <a:pt x="0" y="124460"/>
                  </a:lnTo>
                  <a:cubicBezTo>
                    <a:pt x="0" y="55880"/>
                    <a:pt x="55880" y="0"/>
                    <a:pt x="124460" y="0"/>
                  </a:cubicBezTo>
                  <a:lnTo>
                    <a:pt x="1710798" y="0"/>
                  </a:lnTo>
                  <a:cubicBezTo>
                    <a:pt x="1779377" y="0"/>
                    <a:pt x="1835258" y="55880"/>
                    <a:pt x="1835258" y="124460"/>
                  </a:cubicBezTo>
                  <a:lnTo>
                    <a:pt x="1835258" y="1189769"/>
                  </a:lnTo>
                  <a:cubicBezTo>
                    <a:pt x="1835258" y="1258349"/>
                    <a:pt x="1779377" y="1314229"/>
                    <a:pt x="1710798" y="1314229"/>
                  </a:cubicBezTo>
                  <a:close/>
                </a:path>
              </a:pathLst>
            </a:custGeom>
            <a:solidFill>
              <a:srgbClr val="FFFFFF"/>
            </a:solidFill>
          </p:spPr>
        </p:sp>
      </p:grpSp>
      <p:sp>
        <p:nvSpPr>
          <p:cNvPr id="8" name="Freeform 8"/>
          <p:cNvSpPr/>
          <p:nvPr/>
        </p:nvSpPr>
        <p:spPr>
          <a:xfrm>
            <a:off x="10799909" y="1450392"/>
            <a:ext cx="2151110" cy="2000532"/>
          </a:xfrm>
          <a:custGeom>
            <a:avLst/>
            <a:gdLst/>
            <a:ahLst/>
            <a:cxnLst/>
            <a:rect l="l" t="t" r="r" b="b"/>
            <a:pathLst>
              <a:path w="2151110" h="2000532">
                <a:moveTo>
                  <a:pt x="0" y="0"/>
                </a:moveTo>
                <a:lnTo>
                  <a:pt x="2151111" y="0"/>
                </a:lnTo>
                <a:lnTo>
                  <a:pt x="2151111" y="2000533"/>
                </a:lnTo>
                <a:lnTo>
                  <a:pt x="0" y="20005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10799909" y="-971832"/>
            <a:ext cx="2151110" cy="2000532"/>
          </a:xfrm>
          <a:custGeom>
            <a:avLst/>
            <a:gdLst/>
            <a:ahLst/>
            <a:cxnLst/>
            <a:rect l="l" t="t" r="r" b="b"/>
            <a:pathLst>
              <a:path w="2151110" h="2000532">
                <a:moveTo>
                  <a:pt x="0" y="0"/>
                </a:moveTo>
                <a:lnTo>
                  <a:pt x="2151111" y="0"/>
                </a:lnTo>
                <a:lnTo>
                  <a:pt x="2151111" y="2000532"/>
                </a:lnTo>
                <a:lnTo>
                  <a:pt x="0" y="20005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4234996" y="9042598"/>
            <a:ext cx="2151110" cy="2000532"/>
          </a:xfrm>
          <a:custGeom>
            <a:avLst/>
            <a:gdLst/>
            <a:ahLst/>
            <a:cxnLst/>
            <a:rect l="l" t="t" r="r" b="b"/>
            <a:pathLst>
              <a:path w="2151110" h="2000532">
                <a:moveTo>
                  <a:pt x="0" y="0"/>
                </a:moveTo>
                <a:lnTo>
                  <a:pt x="2151110" y="0"/>
                </a:lnTo>
                <a:lnTo>
                  <a:pt x="2151110" y="2000532"/>
                </a:lnTo>
                <a:lnTo>
                  <a:pt x="0" y="20005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1" name="Group 11"/>
          <p:cNvGrpSpPr/>
          <p:nvPr/>
        </p:nvGrpSpPr>
        <p:grpSpPr>
          <a:xfrm>
            <a:off x="9506244" y="2716145"/>
            <a:ext cx="6444243" cy="3418474"/>
            <a:chOff x="0" y="0"/>
            <a:chExt cx="1833600" cy="972669"/>
          </a:xfrm>
        </p:grpSpPr>
        <p:sp>
          <p:nvSpPr>
            <p:cNvPr id="12" name="Freeform 12"/>
            <p:cNvSpPr/>
            <p:nvPr/>
          </p:nvSpPr>
          <p:spPr>
            <a:xfrm>
              <a:off x="0" y="0"/>
              <a:ext cx="1833601" cy="972669"/>
            </a:xfrm>
            <a:custGeom>
              <a:avLst/>
              <a:gdLst/>
              <a:ahLst/>
              <a:cxnLst/>
              <a:rect l="l" t="t" r="r" b="b"/>
              <a:pathLst>
                <a:path w="1833601" h="972669">
                  <a:moveTo>
                    <a:pt x="1709140" y="972669"/>
                  </a:moveTo>
                  <a:lnTo>
                    <a:pt x="124460" y="972669"/>
                  </a:lnTo>
                  <a:cubicBezTo>
                    <a:pt x="55880" y="972669"/>
                    <a:pt x="0" y="916789"/>
                    <a:pt x="0" y="848209"/>
                  </a:cubicBezTo>
                  <a:lnTo>
                    <a:pt x="0" y="124460"/>
                  </a:lnTo>
                  <a:cubicBezTo>
                    <a:pt x="0" y="55880"/>
                    <a:pt x="55880" y="0"/>
                    <a:pt x="124460" y="0"/>
                  </a:cubicBezTo>
                  <a:lnTo>
                    <a:pt x="1709141" y="0"/>
                  </a:lnTo>
                  <a:cubicBezTo>
                    <a:pt x="1777721" y="0"/>
                    <a:pt x="1833601" y="55880"/>
                    <a:pt x="1833601" y="124460"/>
                  </a:cubicBezTo>
                  <a:lnTo>
                    <a:pt x="1833601" y="848209"/>
                  </a:lnTo>
                  <a:cubicBezTo>
                    <a:pt x="1833601" y="916789"/>
                    <a:pt x="1777721" y="972669"/>
                    <a:pt x="1709141" y="972669"/>
                  </a:cubicBezTo>
                  <a:close/>
                </a:path>
              </a:pathLst>
            </a:custGeom>
            <a:solidFill>
              <a:srgbClr val="75C7FB"/>
            </a:solidFill>
          </p:spPr>
        </p:sp>
      </p:grpSp>
      <p:sp>
        <p:nvSpPr>
          <p:cNvPr id="13" name="Freeform 13"/>
          <p:cNvSpPr/>
          <p:nvPr/>
        </p:nvSpPr>
        <p:spPr>
          <a:xfrm rot="218997">
            <a:off x="13756661" y="2162049"/>
            <a:ext cx="2167735" cy="888771"/>
          </a:xfrm>
          <a:custGeom>
            <a:avLst/>
            <a:gdLst/>
            <a:ahLst/>
            <a:cxnLst/>
            <a:rect l="l" t="t" r="r" b="b"/>
            <a:pathLst>
              <a:path w="2167735" h="888771">
                <a:moveTo>
                  <a:pt x="0" y="0"/>
                </a:moveTo>
                <a:lnTo>
                  <a:pt x="2167735" y="0"/>
                </a:lnTo>
                <a:lnTo>
                  <a:pt x="2167735" y="888772"/>
                </a:lnTo>
                <a:lnTo>
                  <a:pt x="0" y="88877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8618722" y="4093186"/>
            <a:ext cx="2152613" cy="882571"/>
          </a:xfrm>
          <a:custGeom>
            <a:avLst/>
            <a:gdLst/>
            <a:ahLst/>
            <a:cxnLst/>
            <a:rect l="l" t="t" r="r" b="b"/>
            <a:pathLst>
              <a:path w="2152613" h="882571">
                <a:moveTo>
                  <a:pt x="0" y="0"/>
                </a:moveTo>
                <a:lnTo>
                  <a:pt x="2152612" y="0"/>
                </a:lnTo>
                <a:lnTo>
                  <a:pt x="2152612" y="882572"/>
                </a:lnTo>
                <a:lnTo>
                  <a:pt x="0" y="88257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Freeform 15"/>
          <p:cNvSpPr/>
          <p:nvPr/>
        </p:nvSpPr>
        <p:spPr>
          <a:xfrm>
            <a:off x="8340541" y="4679679"/>
            <a:ext cx="8553838" cy="4832919"/>
          </a:xfrm>
          <a:custGeom>
            <a:avLst/>
            <a:gdLst/>
            <a:ahLst/>
            <a:cxnLst/>
            <a:rect l="l" t="t" r="r" b="b"/>
            <a:pathLst>
              <a:path w="8553838" h="4832919">
                <a:moveTo>
                  <a:pt x="0" y="0"/>
                </a:moveTo>
                <a:lnTo>
                  <a:pt x="8553838" y="0"/>
                </a:lnTo>
                <a:lnTo>
                  <a:pt x="8553838" y="4832918"/>
                </a:lnTo>
                <a:lnTo>
                  <a:pt x="0" y="48329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p:cNvSpPr/>
          <p:nvPr/>
        </p:nvSpPr>
        <p:spPr>
          <a:xfrm>
            <a:off x="13703224" y="28434"/>
            <a:ext cx="2151110" cy="2000532"/>
          </a:xfrm>
          <a:custGeom>
            <a:avLst/>
            <a:gdLst/>
            <a:ahLst/>
            <a:cxnLst/>
            <a:rect l="l" t="t" r="r" b="b"/>
            <a:pathLst>
              <a:path w="2151110" h="2000532">
                <a:moveTo>
                  <a:pt x="0" y="0"/>
                </a:moveTo>
                <a:lnTo>
                  <a:pt x="2151111" y="0"/>
                </a:lnTo>
                <a:lnTo>
                  <a:pt x="2151111" y="2000532"/>
                </a:lnTo>
                <a:lnTo>
                  <a:pt x="0" y="20005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381000" y="190500"/>
            <a:ext cx="16840200" cy="10341293"/>
          </a:xfrm>
          <a:prstGeom prst="rect">
            <a:avLst/>
          </a:prstGeom>
        </p:spPr>
        <p:txBody>
          <a:bodyPr wrap="square" lIns="0" tIns="0" rIns="0" bIns="0" rtlCol="0" anchor="t">
            <a:spAutoFit/>
          </a:bodyPr>
          <a:lstStyle/>
          <a:p>
            <a:r>
              <a:rPr lang="en-US" sz="3200" b="1" dirty="0"/>
              <a:t>Types of company:</a:t>
            </a:r>
            <a:br>
              <a:rPr lang="en-US" sz="3200" dirty="0"/>
            </a:br>
            <a:r>
              <a:rPr lang="en-US" sz="3200" dirty="0"/>
              <a:t>Private</a:t>
            </a:r>
          </a:p>
          <a:p>
            <a:r>
              <a:rPr lang="en-US" sz="3200" b="1" dirty="0"/>
              <a:t>Types of business:</a:t>
            </a:r>
            <a:br>
              <a:rPr lang="en-US" sz="3200" dirty="0"/>
            </a:br>
            <a:r>
              <a:rPr lang="en-US" sz="3200" dirty="0"/>
              <a:t>Technology Startup (E-commerce Chatbot Solutions)</a:t>
            </a:r>
          </a:p>
          <a:p>
            <a:r>
              <a:rPr lang="en-US" sz="3200" b="1" dirty="0"/>
              <a:t>Product:</a:t>
            </a:r>
            <a:br>
              <a:rPr lang="en-US" sz="3200" dirty="0"/>
            </a:br>
            <a:r>
              <a:rPr lang="en-US" sz="3200" dirty="0"/>
              <a:t>AI-powered Chatbots for E-commerce Websites</a:t>
            </a:r>
          </a:p>
          <a:p>
            <a:r>
              <a:rPr lang="en-US" sz="3200" b="1" dirty="0"/>
              <a:t>Name of company:</a:t>
            </a:r>
            <a:br>
              <a:rPr lang="en-US" sz="3200" dirty="0"/>
            </a:br>
            <a:r>
              <a:rPr lang="en-US" sz="3200" dirty="0" err="1"/>
              <a:t>Quizzly</a:t>
            </a:r>
            <a:endParaRPr lang="ka-GE" sz="3200" dirty="0"/>
          </a:p>
          <a:p>
            <a:endParaRPr lang="ka-GE" sz="3200" dirty="0"/>
          </a:p>
          <a:p>
            <a:endParaRPr lang="ka-GE" sz="3200" dirty="0"/>
          </a:p>
          <a:p>
            <a:endParaRPr lang="ka-GE" sz="3200" dirty="0"/>
          </a:p>
          <a:p>
            <a:r>
              <a:rPr lang="en-US" sz="3200" b="1" dirty="0"/>
              <a:t>Vision:</a:t>
            </a:r>
            <a:endParaRPr lang="en-US" sz="3200" dirty="0"/>
          </a:p>
          <a:p>
            <a:r>
              <a:rPr lang="en-US" sz="3200" dirty="0"/>
              <a:t>TO BECOME A LEADING AI CHATBOT PROVIDER THAT TRANSFORMS ONLINE SHOPPING EXPERIENCE BY MAKING CUSTOMER COMMUNICATION SMARTER, FASTER, AND MORE PERSONALIZED</a:t>
            </a:r>
          </a:p>
          <a:p>
            <a:endParaRPr lang="ka-GE" sz="3200" dirty="0"/>
          </a:p>
          <a:p>
            <a:endParaRPr lang="ka-GE" sz="3200" dirty="0"/>
          </a:p>
          <a:p>
            <a:r>
              <a:rPr lang="en-US" sz="3200" b="1" dirty="0"/>
              <a:t>Mission:</a:t>
            </a:r>
            <a:endParaRPr lang="en-US" sz="3200" dirty="0"/>
          </a:p>
          <a:p>
            <a:r>
              <a:rPr lang="en-US" sz="3200" dirty="0"/>
              <a:t>WE ARE COMMITTED TO HELPING E-COMMERCE BUSINESSES INCREASE SALES AND CUSTOMER SATISFACTION BY PROVIDING INTELLIGENT, EASY-TO-INTEGRATE CHATBOT SOLUTIONS FOR WEBSITES AND ONLINE STORES</a:t>
            </a:r>
          </a:p>
          <a:p>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DFE2F7DD-72D2-4DC9-BA34-A4767556C213}"/>
              </a:ext>
            </a:extLst>
          </p:cNvPr>
          <p:cNvSpPr/>
          <p:nvPr/>
        </p:nvSpPr>
        <p:spPr>
          <a:xfrm>
            <a:off x="3657600" y="2857500"/>
            <a:ext cx="10744200" cy="4038600"/>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r>
              <a:rPr lang="en-US" sz="3600" dirty="0"/>
              <a:t>To establish and operate an AI chatbot service for e-commerce businesses operating in the Georgian market and beyond.</a:t>
            </a:r>
            <a:br>
              <a:rPr lang="en-US" sz="3600" dirty="0"/>
            </a:br>
            <a:r>
              <a:rPr lang="en-US" sz="3600" dirty="0"/>
              <a:t>To provide intelligent, user-friendly, and affordable chatbot solutions that improve customer support, engagement, and online sales.</a:t>
            </a:r>
          </a:p>
        </p:txBody>
      </p:sp>
      <p:sp>
        <p:nvSpPr>
          <p:cNvPr id="15363" name="Rectangle 1">
            <a:extLst>
              <a:ext uri="{FF2B5EF4-FFF2-40B4-BE49-F238E27FC236}">
                <a16:creationId xmlns:a16="http://schemas.microsoft.com/office/drawing/2014/main" id="{A3DC2F16-8E38-4B8B-B88A-18181C2C5A66}"/>
              </a:ext>
            </a:extLst>
          </p:cNvPr>
          <p:cNvSpPr>
            <a:spLocks noChangeArrowheads="1"/>
          </p:cNvSpPr>
          <p:nvPr/>
        </p:nvSpPr>
        <p:spPr bwMode="auto">
          <a:xfrm>
            <a:off x="3657600" y="1254026"/>
            <a:ext cx="104013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ctr" eaLnBrk="1" hangingPunct="1"/>
            <a:r>
              <a:rPr lang="en-US" sz="5400" b="1" dirty="0"/>
              <a:t>Objective</a:t>
            </a:r>
            <a:endParaRPr lang="en-US" altLang="ka-GE" sz="8100" dirty="0">
              <a:latin typeface="Calibri" panose="020F0502020204030204" pitchFamily="34" charset="0"/>
              <a:cs typeface="Calibri" panose="020F0502020204030204"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6A570B8-C67C-4B54-88BE-2AF0E459F1BB}"/>
              </a:ext>
            </a:extLst>
          </p:cNvPr>
          <p:cNvSpPr txBox="1"/>
          <p:nvPr/>
        </p:nvSpPr>
        <p:spPr>
          <a:xfrm>
            <a:off x="266700" y="357574"/>
            <a:ext cx="17754600" cy="9571851"/>
          </a:xfrm>
          <a:prstGeom prst="rect">
            <a:avLst/>
          </a:prstGeom>
          <a:noFill/>
        </p:spPr>
        <p:txBody>
          <a:bodyPr wrap="square">
            <a:spAutoFit/>
          </a:bodyPr>
          <a:lstStyle/>
          <a:p>
            <a:pPr marL="514350" indent="-514350">
              <a:buFont typeface="+mj-lt"/>
              <a:buAutoNum type="arabicPeriod"/>
            </a:pPr>
            <a:r>
              <a:rPr lang="en-US" sz="2800" b="1" dirty="0"/>
              <a:t>Type of Building:</a:t>
            </a:r>
            <a:br>
              <a:rPr lang="en-US" sz="2800" dirty="0"/>
            </a:br>
            <a:r>
              <a:rPr lang="en-US" sz="2800" dirty="0"/>
              <a:t>Commercial Structure – Virtual Office</a:t>
            </a:r>
            <a:br>
              <a:rPr lang="en-US" sz="2800" dirty="0"/>
            </a:br>
            <a:r>
              <a:rPr lang="en-US" sz="2800" dirty="0"/>
              <a:t>Online-Based Business (No Physical Storefront)</a:t>
            </a:r>
          </a:p>
          <a:p>
            <a:pPr marL="514350" indent="-514350">
              <a:buFont typeface="+mj-lt"/>
              <a:buAutoNum type="arabicPeriod"/>
            </a:pPr>
            <a:r>
              <a:rPr lang="en-US" sz="2800" b="1" dirty="0"/>
              <a:t>Rent:</a:t>
            </a:r>
            <a:br>
              <a:rPr lang="en-US" sz="2800" dirty="0"/>
            </a:br>
            <a:r>
              <a:rPr lang="en-US" sz="2800" dirty="0"/>
              <a:t>Cloud Services Subscription &amp; Virtual Office Lease</a:t>
            </a:r>
            <a:endParaRPr lang="ka-GE" sz="2800" dirty="0"/>
          </a:p>
          <a:p>
            <a:endParaRPr lang="ka-GE" sz="2800" dirty="0"/>
          </a:p>
          <a:p>
            <a:r>
              <a:rPr lang="ka-GE" sz="2800" b="1" dirty="0"/>
              <a:t>3.   </a:t>
            </a:r>
            <a:r>
              <a:rPr lang="en-US" sz="2800" b="1" dirty="0"/>
              <a:t>Infrastructure:</a:t>
            </a:r>
            <a:endParaRPr lang="en-US" sz="2800" dirty="0"/>
          </a:p>
          <a:p>
            <a:pPr marL="457200" indent="-457200">
              <a:buFont typeface="Arial" panose="020B0604020202020204" pitchFamily="34" charset="0"/>
              <a:buChar char="•"/>
            </a:pPr>
            <a:r>
              <a:rPr lang="en-US" sz="2800" dirty="0"/>
              <a:t>Platform Type → Cloud-Based Infrastructure</a:t>
            </a:r>
            <a:br>
              <a:rPr lang="en-US" sz="2800" dirty="0"/>
            </a:br>
            <a:r>
              <a:rPr lang="en-US" sz="2800" dirty="0"/>
              <a:t>Built-Up → Fully Digital (Web Platform &amp; Chatbot Dashboard)</a:t>
            </a:r>
          </a:p>
          <a:p>
            <a:pPr marL="457200" indent="-457200">
              <a:buFont typeface="Arial" panose="020B0604020202020204" pitchFamily="34" charset="0"/>
              <a:buChar char="•"/>
            </a:pPr>
            <a:r>
              <a:rPr lang="en-US" sz="2800" dirty="0"/>
              <a:t>Cloud Services:</a:t>
            </a:r>
            <a:br>
              <a:rPr lang="en-US" sz="2800" dirty="0"/>
            </a:br>
            <a:r>
              <a:rPr lang="en-US" sz="2800" dirty="0"/>
              <a:t>AWS / Google Cloud</a:t>
            </a:r>
            <a:br>
              <a:rPr lang="en-US" sz="2800" dirty="0"/>
            </a:br>
            <a:r>
              <a:rPr lang="en-US" sz="2800" dirty="0"/>
              <a:t>AI Model Hosting</a:t>
            </a:r>
            <a:br>
              <a:rPr lang="en-US" sz="2800" dirty="0"/>
            </a:br>
            <a:r>
              <a:rPr lang="en-US" sz="2800" dirty="0"/>
              <a:t>Database &amp; Analytics Servers</a:t>
            </a:r>
          </a:p>
          <a:p>
            <a:pPr marL="457200" indent="-457200">
              <a:buFont typeface="Arial" panose="020B0604020202020204" pitchFamily="34" charset="0"/>
              <a:buChar char="•"/>
            </a:pPr>
            <a:r>
              <a:rPr lang="en-US" sz="2800" dirty="0"/>
              <a:t>Collaboration &amp; Tools:</a:t>
            </a:r>
            <a:br>
              <a:rPr lang="en-US" sz="2800" dirty="0"/>
            </a:br>
            <a:r>
              <a:rPr lang="en-US" sz="2800" dirty="0"/>
              <a:t>GitHub</a:t>
            </a:r>
            <a:br>
              <a:rPr lang="en-US" sz="2800" dirty="0"/>
            </a:br>
            <a:r>
              <a:rPr lang="en-US" sz="2800" dirty="0"/>
              <a:t>Slack</a:t>
            </a:r>
            <a:br>
              <a:rPr lang="en-US" sz="2800" dirty="0"/>
            </a:br>
            <a:r>
              <a:rPr lang="en-US" sz="2800" dirty="0"/>
              <a:t>Notion</a:t>
            </a:r>
          </a:p>
          <a:p>
            <a:pPr marL="457200" indent="-457200">
              <a:buFont typeface="Arial" panose="020B0604020202020204" pitchFamily="34" charset="0"/>
              <a:buChar char="•"/>
            </a:pPr>
            <a:r>
              <a:rPr lang="en-US" sz="2800" dirty="0"/>
              <a:t>Partner Companies:</a:t>
            </a:r>
            <a:br>
              <a:rPr lang="en-US" sz="2800" dirty="0"/>
            </a:br>
            <a:r>
              <a:rPr lang="en-US" sz="2800" dirty="0"/>
              <a:t>Extra.ge</a:t>
            </a:r>
            <a:br>
              <a:rPr lang="en-US" sz="2800" dirty="0"/>
            </a:br>
            <a:r>
              <a:rPr lang="en-US" sz="2800" dirty="0"/>
              <a:t>Local E-commerce Businesses</a:t>
            </a:r>
            <a:br>
              <a:rPr lang="en-US" sz="2800" dirty="0"/>
            </a:br>
            <a:r>
              <a:rPr lang="en-US" sz="2800" dirty="0"/>
              <a:t>Online Retail Platforms</a:t>
            </a:r>
          </a:p>
          <a:p>
            <a:endParaRPr lang="en-US" sz="2800" dirty="0"/>
          </a:p>
        </p:txBody>
      </p:sp>
    </p:spTree>
    <p:extLst>
      <p:ext uri="{BB962C8B-B14F-4D97-AF65-F5344CB8AC3E}">
        <p14:creationId xmlns:p14="http://schemas.microsoft.com/office/powerpoint/2010/main" val="3364293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7C61FB6B-E257-4D5C-9C1F-FCBD5EFDB97B}"/>
              </a:ext>
            </a:extLst>
          </p:cNvPr>
          <p:cNvGraphicFramePr/>
          <p:nvPr>
            <p:extLst>
              <p:ext uri="{D42A27DB-BD31-4B8C-83A1-F6EECF244321}">
                <p14:modId xmlns:p14="http://schemas.microsoft.com/office/powerpoint/2010/main" val="2957442810"/>
              </p:ext>
            </p:extLst>
          </p:nvPr>
        </p:nvGraphicFramePr>
        <p:xfrm>
          <a:off x="3048000" y="1943100"/>
          <a:ext cx="12192000" cy="812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2">
            <a:extLst>
              <a:ext uri="{FF2B5EF4-FFF2-40B4-BE49-F238E27FC236}">
                <a16:creationId xmlns:a16="http://schemas.microsoft.com/office/drawing/2014/main" id="{9FDD20A0-F1D3-401B-A543-A0CAB62D158C}"/>
              </a:ext>
            </a:extLst>
          </p:cNvPr>
          <p:cNvSpPr txBox="1">
            <a:spLocks noChangeArrowheads="1"/>
          </p:cNvSpPr>
          <p:nvPr/>
        </p:nvSpPr>
        <p:spPr bwMode="auto">
          <a:xfrm>
            <a:off x="5410200" y="495300"/>
            <a:ext cx="7162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ptos" pitchFamily="34" charset="0"/>
              </a:defRPr>
            </a:lvl1pPr>
            <a:lvl2pPr marL="742950" indent="-285750">
              <a:defRPr>
                <a:solidFill>
                  <a:schemeClr val="tx1"/>
                </a:solidFill>
                <a:latin typeface="Aptos" pitchFamily="34" charset="0"/>
              </a:defRPr>
            </a:lvl2pPr>
            <a:lvl3pPr marL="1143000" indent="-228600">
              <a:defRPr>
                <a:solidFill>
                  <a:schemeClr val="tx1"/>
                </a:solidFill>
                <a:latin typeface="Aptos" pitchFamily="34" charset="0"/>
              </a:defRPr>
            </a:lvl3pPr>
            <a:lvl4pPr marL="1600200" indent="-228600">
              <a:defRPr>
                <a:solidFill>
                  <a:schemeClr val="tx1"/>
                </a:solidFill>
                <a:latin typeface="Aptos" pitchFamily="34" charset="0"/>
              </a:defRPr>
            </a:lvl4pPr>
            <a:lvl5pPr marL="2057400" indent="-228600">
              <a:defRPr>
                <a:solidFill>
                  <a:schemeClr val="tx1"/>
                </a:solidFill>
                <a:latin typeface="Aptos" pitchFamily="34" charset="0"/>
              </a:defRPr>
            </a:lvl5pPr>
            <a:lvl6pPr marL="2514600" indent="-228600" eaLnBrk="0" fontAlgn="base" hangingPunct="0">
              <a:spcBef>
                <a:spcPct val="0"/>
              </a:spcBef>
              <a:spcAft>
                <a:spcPct val="0"/>
              </a:spcAft>
              <a:defRPr>
                <a:solidFill>
                  <a:schemeClr val="tx1"/>
                </a:solidFill>
                <a:latin typeface="Aptos" pitchFamily="34" charset="0"/>
              </a:defRPr>
            </a:lvl6pPr>
            <a:lvl7pPr marL="2971800" indent="-228600" eaLnBrk="0" fontAlgn="base" hangingPunct="0">
              <a:spcBef>
                <a:spcPct val="0"/>
              </a:spcBef>
              <a:spcAft>
                <a:spcPct val="0"/>
              </a:spcAft>
              <a:defRPr>
                <a:solidFill>
                  <a:schemeClr val="tx1"/>
                </a:solidFill>
                <a:latin typeface="Aptos" pitchFamily="34" charset="0"/>
              </a:defRPr>
            </a:lvl7pPr>
            <a:lvl8pPr marL="3429000" indent="-228600" eaLnBrk="0" fontAlgn="base" hangingPunct="0">
              <a:spcBef>
                <a:spcPct val="0"/>
              </a:spcBef>
              <a:spcAft>
                <a:spcPct val="0"/>
              </a:spcAft>
              <a:defRPr>
                <a:solidFill>
                  <a:schemeClr val="tx1"/>
                </a:solidFill>
                <a:latin typeface="Aptos" pitchFamily="34" charset="0"/>
              </a:defRPr>
            </a:lvl8pPr>
            <a:lvl9pPr marL="3886200" indent="-228600" eaLnBrk="0" fontAlgn="base" hangingPunct="0">
              <a:spcBef>
                <a:spcPct val="0"/>
              </a:spcBef>
              <a:spcAft>
                <a:spcPct val="0"/>
              </a:spcAft>
              <a:defRPr>
                <a:solidFill>
                  <a:schemeClr val="tx1"/>
                </a:solidFill>
                <a:latin typeface="Aptos" pitchFamily="34" charset="0"/>
              </a:defRPr>
            </a:lvl9pPr>
          </a:lstStyle>
          <a:p>
            <a:pPr algn="ctr" eaLnBrk="1" hangingPunct="1"/>
            <a:r>
              <a:rPr lang="en-US" altLang="ka-GE" sz="3600" b="1" dirty="0">
                <a:latin typeface="Arial" panose="020B0604020202020204" pitchFamily="34" charset="0"/>
                <a:cs typeface="Arial" panose="020B0604020202020204" pitchFamily="34" charset="0"/>
              </a:rPr>
              <a:t>ORGANIZATIONAL STRUCTURE FUNCTION</a:t>
            </a:r>
          </a:p>
        </p:txBody>
      </p:sp>
    </p:spTree>
    <p:extLst>
      <p:ext uri="{BB962C8B-B14F-4D97-AF65-F5344CB8AC3E}">
        <p14:creationId xmlns:p14="http://schemas.microsoft.com/office/powerpoint/2010/main" val="472818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A93BCE5-FDD8-4A6F-A37E-67DFA533696B}"/>
              </a:ext>
            </a:extLst>
          </p:cNvPr>
          <p:cNvGraphicFramePr>
            <a:graphicFrameLocks noGrp="1"/>
          </p:cNvGraphicFramePr>
          <p:nvPr>
            <p:extLst>
              <p:ext uri="{D42A27DB-BD31-4B8C-83A1-F6EECF244321}">
                <p14:modId xmlns:p14="http://schemas.microsoft.com/office/powerpoint/2010/main" val="3580008343"/>
              </p:ext>
            </p:extLst>
          </p:nvPr>
        </p:nvGraphicFramePr>
        <p:xfrm>
          <a:off x="1752600" y="3314700"/>
          <a:ext cx="15087600" cy="5562602"/>
        </p:xfrm>
        <a:graphic>
          <a:graphicData uri="http://schemas.openxmlformats.org/drawingml/2006/table">
            <a:tbl>
              <a:tblPr/>
              <a:tblGrid>
                <a:gridCol w="7543800">
                  <a:extLst>
                    <a:ext uri="{9D8B030D-6E8A-4147-A177-3AD203B41FA5}">
                      <a16:colId xmlns:a16="http://schemas.microsoft.com/office/drawing/2014/main" val="1032847683"/>
                    </a:ext>
                  </a:extLst>
                </a:gridCol>
                <a:gridCol w="7543800">
                  <a:extLst>
                    <a:ext uri="{9D8B030D-6E8A-4147-A177-3AD203B41FA5}">
                      <a16:colId xmlns:a16="http://schemas.microsoft.com/office/drawing/2014/main" val="1311972002"/>
                    </a:ext>
                  </a:extLst>
                </a:gridCol>
              </a:tblGrid>
              <a:tr h="809746">
                <a:tc>
                  <a:txBody>
                    <a:bodyPr/>
                    <a:lstStyle/>
                    <a:p>
                      <a:r>
                        <a:rPr lang="en-US" sz="4000"/>
                        <a:t>POSITION</a:t>
                      </a:r>
                    </a:p>
                  </a:txBody>
                  <a:tcPr anchor="ctr">
                    <a:lnL>
                      <a:noFill/>
                    </a:lnL>
                    <a:lnR>
                      <a:noFill/>
                    </a:lnR>
                    <a:lnT>
                      <a:noFill/>
                    </a:lnT>
                    <a:lnB>
                      <a:noFill/>
                    </a:lnB>
                  </a:tcPr>
                </a:tc>
                <a:tc>
                  <a:txBody>
                    <a:bodyPr/>
                    <a:lstStyle/>
                    <a:p>
                      <a:r>
                        <a:rPr lang="en-US" sz="4000"/>
                        <a:t>NO. OF PERSONNELS</a:t>
                      </a:r>
                    </a:p>
                  </a:txBody>
                  <a:tcPr anchor="ctr">
                    <a:lnL>
                      <a:noFill/>
                    </a:lnL>
                    <a:lnR>
                      <a:noFill/>
                    </a:lnR>
                    <a:lnT>
                      <a:noFill/>
                    </a:lnT>
                    <a:lnB>
                      <a:noFill/>
                    </a:lnB>
                  </a:tcPr>
                </a:tc>
                <a:extLst>
                  <a:ext uri="{0D108BD9-81ED-4DB2-BD59-A6C34878D82A}">
                    <a16:rowId xmlns:a16="http://schemas.microsoft.com/office/drawing/2014/main" val="63336216"/>
                  </a:ext>
                </a:extLst>
              </a:tr>
              <a:tr h="809746">
                <a:tc>
                  <a:txBody>
                    <a:bodyPr/>
                    <a:lstStyle/>
                    <a:p>
                      <a:r>
                        <a:rPr lang="en-US" sz="4000"/>
                        <a:t>Founder / General Manager</a:t>
                      </a:r>
                    </a:p>
                  </a:txBody>
                  <a:tcPr anchor="ctr">
                    <a:lnL>
                      <a:noFill/>
                    </a:lnL>
                    <a:lnR>
                      <a:noFill/>
                    </a:lnR>
                    <a:lnT>
                      <a:noFill/>
                    </a:lnT>
                    <a:lnB>
                      <a:noFill/>
                    </a:lnB>
                  </a:tcPr>
                </a:tc>
                <a:tc>
                  <a:txBody>
                    <a:bodyPr/>
                    <a:lstStyle/>
                    <a:p>
                      <a:r>
                        <a:rPr lang="en-US" sz="4000" dirty="0"/>
                        <a:t>1</a:t>
                      </a:r>
                    </a:p>
                  </a:txBody>
                  <a:tcPr anchor="ctr">
                    <a:lnL>
                      <a:noFill/>
                    </a:lnL>
                    <a:lnR>
                      <a:noFill/>
                    </a:lnR>
                    <a:lnT>
                      <a:noFill/>
                    </a:lnT>
                    <a:lnB>
                      <a:noFill/>
                    </a:lnB>
                  </a:tcPr>
                </a:tc>
                <a:extLst>
                  <a:ext uri="{0D108BD9-81ED-4DB2-BD59-A6C34878D82A}">
                    <a16:rowId xmlns:a16="http://schemas.microsoft.com/office/drawing/2014/main" val="4101741057"/>
                  </a:ext>
                </a:extLst>
              </a:tr>
              <a:tr h="809746">
                <a:tc>
                  <a:txBody>
                    <a:bodyPr/>
                    <a:lstStyle/>
                    <a:p>
                      <a:r>
                        <a:rPr lang="en-US" sz="4000"/>
                        <a:t>Technical Lead</a:t>
                      </a:r>
                    </a:p>
                  </a:txBody>
                  <a:tcPr anchor="ctr">
                    <a:lnL>
                      <a:noFill/>
                    </a:lnL>
                    <a:lnR>
                      <a:noFill/>
                    </a:lnR>
                    <a:lnT>
                      <a:noFill/>
                    </a:lnT>
                    <a:lnB>
                      <a:noFill/>
                    </a:lnB>
                  </a:tcPr>
                </a:tc>
                <a:tc>
                  <a:txBody>
                    <a:bodyPr/>
                    <a:lstStyle/>
                    <a:p>
                      <a:r>
                        <a:rPr lang="en-US" sz="4000"/>
                        <a:t>1</a:t>
                      </a:r>
                    </a:p>
                  </a:txBody>
                  <a:tcPr anchor="ctr">
                    <a:lnL>
                      <a:noFill/>
                    </a:lnL>
                    <a:lnR>
                      <a:noFill/>
                    </a:lnR>
                    <a:lnT>
                      <a:noFill/>
                    </a:lnT>
                    <a:lnB>
                      <a:noFill/>
                    </a:lnB>
                  </a:tcPr>
                </a:tc>
                <a:extLst>
                  <a:ext uri="{0D108BD9-81ED-4DB2-BD59-A6C34878D82A}">
                    <a16:rowId xmlns:a16="http://schemas.microsoft.com/office/drawing/2014/main" val="4002081229"/>
                  </a:ext>
                </a:extLst>
              </a:tr>
              <a:tr h="809746">
                <a:tc>
                  <a:txBody>
                    <a:bodyPr/>
                    <a:lstStyle/>
                    <a:p>
                      <a:r>
                        <a:rPr lang="en-US" sz="4000"/>
                        <a:t>Software Developers</a:t>
                      </a:r>
                    </a:p>
                  </a:txBody>
                  <a:tcPr anchor="ctr">
                    <a:lnL>
                      <a:noFill/>
                    </a:lnL>
                    <a:lnR>
                      <a:noFill/>
                    </a:lnR>
                    <a:lnT>
                      <a:noFill/>
                    </a:lnT>
                    <a:lnB>
                      <a:noFill/>
                    </a:lnB>
                  </a:tcPr>
                </a:tc>
                <a:tc>
                  <a:txBody>
                    <a:bodyPr/>
                    <a:lstStyle/>
                    <a:p>
                      <a:r>
                        <a:rPr lang="ka-GE" sz="4000" dirty="0"/>
                        <a:t>6</a:t>
                      </a:r>
                      <a:endParaRPr lang="en-US" sz="4000" dirty="0"/>
                    </a:p>
                  </a:txBody>
                  <a:tcPr anchor="ctr">
                    <a:lnL>
                      <a:noFill/>
                    </a:lnL>
                    <a:lnR>
                      <a:noFill/>
                    </a:lnR>
                    <a:lnT>
                      <a:noFill/>
                    </a:lnT>
                    <a:lnB>
                      <a:noFill/>
                    </a:lnB>
                  </a:tcPr>
                </a:tc>
                <a:extLst>
                  <a:ext uri="{0D108BD9-81ED-4DB2-BD59-A6C34878D82A}">
                    <a16:rowId xmlns:a16="http://schemas.microsoft.com/office/drawing/2014/main" val="3704124388"/>
                  </a:ext>
                </a:extLst>
              </a:tr>
              <a:tr h="809746">
                <a:tc>
                  <a:txBody>
                    <a:bodyPr/>
                    <a:lstStyle/>
                    <a:p>
                      <a:r>
                        <a:rPr lang="en-US" sz="4000"/>
                        <a:t>Marketing &amp; Sales Manager</a:t>
                      </a:r>
                    </a:p>
                  </a:txBody>
                  <a:tcPr anchor="ctr">
                    <a:lnL>
                      <a:noFill/>
                    </a:lnL>
                    <a:lnR>
                      <a:noFill/>
                    </a:lnR>
                    <a:lnT>
                      <a:noFill/>
                    </a:lnT>
                    <a:lnB>
                      <a:noFill/>
                    </a:lnB>
                  </a:tcPr>
                </a:tc>
                <a:tc>
                  <a:txBody>
                    <a:bodyPr/>
                    <a:lstStyle/>
                    <a:p>
                      <a:r>
                        <a:rPr lang="ka-GE" sz="4000" dirty="0"/>
                        <a:t>2</a:t>
                      </a:r>
                      <a:endParaRPr lang="en-US" sz="4000" dirty="0"/>
                    </a:p>
                  </a:txBody>
                  <a:tcPr anchor="ctr">
                    <a:lnL>
                      <a:noFill/>
                    </a:lnL>
                    <a:lnR>
                      <a:noFill/>
                    </a:lnR>
                    <a:lnT>
                      <a:noFill/>
                    </a:lnT>
                    <a:lnB>
                      <a:noFill/>
                    </a:lnB>
                  </a:tcPr>
                </a:tc>
                <a:extLst>
                  <a:ext uri="{0D108BD9-81ED-4DB2-BD59-A6C34878D82A}">
                    <a16:rowId xmlns:a16="http://schemas.microsoft.com/office/drawing/2014/main" val="4289805247"/>
                  </a:ext>
                </a:extLst>
              </a:tr>
              <a:tr h="1513872">
                <a:tc>
                  <a:txBody>
                    <a:bodyPr/>
                    <a:lstStyle/>
                    <a:p>
                      <a:r>
                        <a:rPr lang="en-US" sz="4000"/>
                        <a:t>Finance &amp; Administration (Part-Time)</a:t>
                      </a:r>
                    </a:p>
                  </a:txBody>
                  <a:tcPr anchor="ctr">
                    <a:lnL>
                      <a:noFill/>
                    </a:lnL>
                    <a:lnR>
                      <a:noFill/>
                    </a:lnR>
                    <a:lnT>
                      <a:noFill/>
                    </a:lnT>
                    <a:lnB>
                      <a:noFill/>
                    </a:lnB>
                  </a:tcPr>
                </a:tc>
                <a:tc>
                  <a:txBody>
                    <a:bodyPr/>
                    <a:lstStyle/>
                    <a:p>
                      <a:r>
                        <a:rPr lang="en-US" sz="4000" dirty="0"/>
                        <a:t>1</a:t>
                      </a:r>
                    </a:p>
                  </a:txBody>
                  <a:tcPr anchor="ctr">
                    <a:lnL>
                      <a:noFill/>
                    </a:lnL>
                    <a:lnR>
                      <a:noFill/>
                    </a:lnR>
                    <a:lnT>
                      <a:noFill/>
                    </a:lnT>
                    <a:lnB>
                      <a:noFill/>
                    </a:lnB>
                  </a:tcPr>
                </a:tc>
                <a:extLst>
                  <a:ext uri="{0D108BD9-81ED-4DB2-BD59-A6C34878D82A}">
                    <a16:rowId xmlns:a16="http://schemas.microsoft.com/office/drawing/2014/main" val="2138322716"/>
                  </a:ext>
                </a:extLst>
              </a:tr>
            </a:tbl>
          </a:graphicData>
        </a:graphic>
      </p:graphicFrame>
      <p:sp>
        <p:nvSpPr>
          <p:cNvPr id="4" name="TextBox 3">
            <a:extLst>
              <a:ext uri="{FF2B5EF4-FFF2-40B4-BE49-F238E27FC236}">
                <a16:creationId xmlns:a16="http://schemas.microsoft.com/office/drawing/2014/main" id="{A2DA44F9-93F5-46EF-95F6-0136FFF74A13}"/>
              </a:ext>
            </a:extLst>
          </p:cNvPr>
          <p:cNvSpPr txBox="1"/>
          <p:nvPr/>
        </p:nvSpPr>
        <p:spPr>
          <a:xfrm>
            <a:off x="4191000" y="755082"/>
            <a:ext cx="9144000" cy="646331"/>
          </a:xfrm>
          <a:prstGeom prst="rect">
            <a:avLst/>
          </a:prstGeom>
          <a:noFill/>
        </p:spPr>
        <p:txBody>
          <a:bodyPr wrap="square">
            <a:spAutoFit/>
          </a:bodyPr>
          <a:lstStyle/>
          <a:p>
            <a:pPr algn="ctr" eaLnBrk="1" hangingPunct="1"/>
            <a:r>
              <a:rPr lang="en-US" altLang="ka-GE" sz="3600" b="1" dirty="0">
                <a:latin typeface="Arial" panose="020B0604020202020204" pitchFamily="34" charset="0"/>
                <a:cs typeface="Arial" panose="020B0604020202020204" pitchFamily="34" charset="0"/>
              </a:rPr>
              <a:t>LIST OF ADMINISTRATION PERSONNEL</a:t>
            </a:r>
          </a:p>
        </p:txBody>
      </p:sp>
    </p:spTree>
    <p:extLst>
      <p:ext uri="{BB962C8B-B14F-4D97-AF65-F5344CB8AC3E}">
        <p14:creationId xmlns:p14="http://schemas.microsoft.com/office/powerpoint/2010/main" val="2504565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BF18101-BB3E-4B1A-BB85-ECE2E998A272}"/>
              </a:ext>
            </a:extLst>
          </p:cNvPr>
          <p:cNvGraphicFramePr>
            <a:graphicFrameLocks noGrp="1"/>
          </p:cNvGraphicFramePr>
          <p:nvPr>
            <p:extLst>
              <p:ext uri="{D42A27DB-BD31-4B8C-83A1-F6EECF244321}">
                <p14:modId xmlns:p14="http://schemas.microsoft.com/office/powerpoint/2010/main" val="354682808"/>
              </p:ext>
            </p:extLst>
          </p:nvPr>
        </p:nvGraphicFramePr>
        <p:xfrm>
          <a:off x="0" y="0"/>
          <a:ext cx="18288000" cy="12913600"/>
        </p:xfrm>
        <a:graphic>
          <a:graphicData uri="http://schemas.openxmlformats.org/drawingml/2006/table">
            <a:tbl>
              <a:tblPr/>
              <a:tblGrid>
                <a:gridCol w="2971800">
                  <a:extLst>
                    <a:ext uri="{9D8B030D-6E8A-4147-A177-3AD203B41FA5}">
                      <a16:colId xmlns:a16="http://schemas.microsoft.com/office/drawing/2014/main" val="731028286"/>
                    </a:ext>
                  </a:extLst>
                </a:gridCol>
                <a:gridCol w="15316200">
                  <a:extLst>
                    <a:ext uri="{9D8B030D-6E8A-4147-A177-3AD203B41FA5}">
                      <a16:colId xmlns:a16="http://schemas.microsoft.com/office/drawing/2014/main" val="2808664323"/>
                    </a:ext>
                  </a:extLst>
                </a:gridCol>
              </a:tblGrid>
              <a:tr h="676123">
                <a:tc>
                  <a:txBody>
                    <a:bodyPr/>
                    <a:lstStyle/>
                    <a:p>
                      <a:r>
                        <a:rPr lang="en-US" sz="3600"/>
                        <a:t>POSITION</a:t>
                      </a:r>
                    </a:p>
                  </a:txBody>
                  <a:tcPr marL="37716" marR="37716" marT="18858" marB="18858" anchor="ctr">
                    <a:lnL>
                      <a:noFill/>
                    </a:lnL>
                    <a:lnR>
                      <a:noFill/>
                    </a:lnR>
                    <a:lnT>
                      <a:noFill/>
                    </a:lnT>
                    <a:lnB>
                      <a:noFill/>
                    </a:lnB>
                  </a:tcPr>
                </a:tc>
                <a:tc>
                  <a:txBody>
                    <a:bodyPr/>
                    <a:lstStyle/>
                    <a:p>
                      <a:r>
                        <a:rPr lang="en-US" sz="3600"/>
                        <a:t>TASK AND RESPONSIBILITIES</a:t>
                      </a:r>
                    </a:p>
                  </a:txBody>
                  <a:tcPr marL="37716" marR="37716" marT="18858" marB="18858" anchor="ctr">
                    <a:lnL>
                      <a:noFill/>
                    </a:lnL>
                    <a:lnR>
                      <a:noFill/>
                    </a:lnR>
                    <a:lnT>
                      <a:noFill/>
                    </a:lnT>
                    <a:lnB>
                      <a:noFill/>
                    </a:lnB>
                  </a:tcPr>
                </a:tc>
                <a:extLst>
                  <a:ext uri="{0D108BD9-81ED-4DB2-BD59-A6C34878D82A}">
                    <a16:rowId xmlns:a16="http://schemas.microsoft.com/office/drawing/2014/main" val="328257507"/>
                  </a:ext>
                </a:extLst>
              </a:tr>
              <a:tr h="2574022">
                <a:tc>
                  <a:txBody>
                    <a:bodyPr/>
                    <a:lstStyle/>
                    <a:p>
                      <a:r>
                        <a:rPr lang="en-US" sz="3600" b="1"/>
                        <a:t>Founder / General Manager</a:t>
                      </a:r>
                      <a:endParaRPr lang="en-US" sz="3600"/>
                    </a:p>
                  </a:txBody>
                  <a:tcPr marL="37716" marR="37716" marT="18858" marB="18858" anchor="ctr">
                    <a:lnL>
                      <a:noFill/>
                    </a:lnL>
                    <a:lnR>
                      <a:noFill/>
                    </a:lnR>
                    <a:lnT>
                      <a:noFill/>
                    </a:lnT>
                    <a:lnB>
                      <a:noFill/>
                    </a:lnB>
                  </a:tcPr>
                </a:tc>
                <a:tc>
                  <a:txBody>
                    <a:bodyPr/>
                    <a:lstStyle/>
                    <a:p>
                      <a:r>
                        <a:rPr lang="en-US" sz="3600" dirty="0"/>
                        <a:t>1. Responsible for overall company strategy, vision, and business growth.2. Ensures company objectives and mission are achieved according to plan.3. Manages key client relationships and partnerships.4. Oversees daily operations and team coordination.5. Reviews monthly performance and business reports.</a:t>
                      </a:r>
                    </a:p>
                  </a:txBody>
                  <a:tcPr marL="37716" marR="37716" marT="18858" marB="18858" anchor="ctr">
                    <a:lnL>
                      <a:noFill/>
                    </a:lnL>
                    <a:lnR>
                      <a:noFill/>
                    </a:lnR>
                    <a:lnT>
                      <a:noFill/>
                    </a:lnT>
                    <a:lnB>
                      <a:noFill/>
                    </a:lnB>
                  </a:tcPr>
                </a:tc>
                <a:extLst>
                  <a:ext uri="{0D108BD9-81ED-4DB2-BD59-A6C34878D82A}">
                    <a16:rowId xmlns:a16="http://schemas.microsoft.com/office/drawing/2014/main" val="2929948200"/>
                  </a:ext>
                </a:extLst>
              </a:tr>
              <a:tr h="2574022">
                <a:tc>
                  <a:txBody>
                    <a:bodyPr/>
                    <a:lstStyle/>
                    <a:p>
                      <a:r>
                        <a:rPr lang="en-US" sz="3600" b="1"/>
                        <a:t>Technical Lead</a:t>
                      </a:r>
                      <a:endParaRPr lang="en-US" sz="3600"/>
                    </a:p>
                  </a:txBody>
                  <a:tcPr marL="37716" marR="37716" marT="18858" marB="18858" anchor="ctr">
                    <a:lnL>
                      <a:noFill/>
                    </a:lnL>
                    <a:lnR>
                      <a:noFill/>
                    </a:lnR>
                    <a:lnT>
                      <a:noFill/>
                    </a:lnT>
                    <a:lnB>
                      <a:noFill/>
                    </a:lnB>
                  </a:tcPr>
                </a:tc>
                <a:tc>
                  <a:txBody>
                    <a:bodyPr/>
                    <a:lstStyle/>
                    <a:p>
                      <a:r>
                        <a:rPr lang="en-US" sz="3600"/>
                        <a:t>1. Designs and maintains chatbot system architecture.2. Supervises software developers and reviews code quality.3. Ensures chatbot performance, security, and scalability.4. Plans technical improvements and new features.5. Coordinates chatbot deployment and integrations.</a:t>
                      </a:r>
                    </a:p>
                  </a:txBody>
                  <a:tcPr marL="37716" marR="37716" marT="18858" marB="18858" anchor="ctr">
                    <a:lnL>
                      <a:noFill/>
                    </a:lnL>
                    <a:lnR>
                      <a:noFill/>
                    </a:lnR>
                    <a:lnT>
                      <a:noFill/>
                    </a:lnT>
                    <a:lnB>
                      <a:noFill/>
                    </a:lnB>
                  </a:tcPr>
                </a:tc>
                <a:extLst>
                  <a:ext uri="{0D108BD9-81ED-4DB2-BD59-A6C34878D82A}">
                    <a16:rowId xmlns:a16="http://schemas.microsoft.com/office/drawing/2014/main" val="704801288"/>
                  </a:ext>
                </a:extLst>
              </a:tr>
              <a:tr h="2574022">
                <a:tc>
                  <a:txBody>
                    <a:bodyPr/>
                    <a:lstStyle/>
                    <a:p>
                      <a:r>
                        <a:rPr lang="en-US" sz="3600" b="1"/>
                        <a:t>Software Developers</a:t>
                      </a:r>
                      <a:endParaRPr lang="en-US" sz="3600"/>
                    </a:p>
                  </a:txBody>
                  <a:tcPr marL="37716" marR="37716" marT="18858" marB="18858" anchor="ctr">
                    <a:lnL>
                      <a:noFill/>
                    </a:lnL>
                    <a:lnR>
                      <a:noFill/>
                    </a:lnR>
                    <a:lnT>
                      <a:noFill/>
                    </a:lnT>
                    <a:lnB>
                      <a:noFill/>
                    </a:lnB>
                  </a:tcPr>
                </a:tc>
                <a:tc>
                  <a:txBody>
                    <a:bodyPr/>
                    <a:lstStyle/>
                    <a:p>
                      <a:r>
                        <a:rPr lang="en-US" sz="3600"/>
                        <a:t>1. Develop and improve AI chatbot functionalities.2. Integrate chatbots with e-commerce websites.3. Test, debug, and optimize chatbot performance.4. Maintain system updates and documentation.5. Provide technical support and maintenance.</a:t>
                      </a:r>
                    </a:p>
                  </a:txBody>
                  <a:tcPr marL="37716" marR="37716" marT="18858" marB="18858" anchor="ctr">
                    <a:lnL>
                      <a:noFill/>
                    </a:lnL>
                    <a:lnR>
                      <a:noFill/>
                    </a:lnR>
                    <a:lnT>
                      <a:noFill/>
                    </a:lnT>
                    <a:lnB>
                      <a:noFill/>
                    </a:lnB>
                  </a:tcPr>
                </a:tc>
                <a:extLst>
                  <a:ext uri="{0D108BD9-81ED-4DB2-BD59-A6C34878D82A}">
                    <a16:rowId xmlns:a16="http://schemas.microsoft.com/office/drawing/2014/main" val="2678136923"/>
                  </a:ext>
                </a:extLst>
              </a:tr>
              <a:tr h="2574022">
                <a:tc>
                  <a:txBody>
                    <a:bodyPr/>
                    <a:lstStyle/>
                    <a:p>
                      <a:r>
                        <a:rPr lang="en-US" sz="3600" b="1" dirty="0"/>
                        <a:t>Marketing &amp; Sales Manager</a:t>
                      </a:r>
                      <a:endParaRPr lang="en-US" sz="3600" dirty="0"/>
                    </a:p>
                  </a:txBody>
                  <a:tcPr marL="37716" marR="37716" marT="18858" marB="18858" anchor="ctr">
                    <a:lnL>
                      <a:noFill/>
                    </a:lnL>
                    <a:lnR>
                      <a:noFill/>
                    </a:lnR>
                    <a:lnT>
                      <a:noFill/>
                    </a:lnT>
                    <a:lnB>
                      <a:noFill/>
                    </a:lnB>
                  </a:tcPr>
                </a:tc>
                <a:tc>
                  <a:txBody>
                    <a:bodyPr/>
                    <a:lstStyle/>
                    <a:p>
                      <a:r>
                        <a:rPr lang="en-US" sz="3600"/>
                        <a:t>1. Promote chatbot services through digital platforms.2. Identify and attract potential e-commerce clients.3. Manage customer onboarding and feedback.4. Prepare marketing and sales materials.5. Support sales negotiations and client communication.</a:t>
                      </a:r>
                    </a:p>
                  </a:txBody>
                  <a:tcPr marL="37716" marR="37716" marT="18858" marB="18858" anchor="ctr">
                    <a:lnL>
                      <a:noFill/>
                    </a:lnL>
                    <a:lnR>
                      <a:noFill/>
                    </a:lnR>
                    <a:lnT>
                      <a:noFill/>
                    </a:lnT>
                    <a:lnB>
                      <a:noFill/>
                    </a:lnB>
                  </a:tcPr>
                </a:tc>
                <a:extLst>
                  <a:ext uri="{0D108BD9-81ED-4DB2-BD59-A6C34878D82A}">
                    <a16:rowId xmlns:a16="http://schemas.microsoft.com/office/drawing/2014/main" val="2854483176"/>
                  </a:ext>
                </a:extLst>
              </a:tr>
              <a:tr h="1941389">
                <a:tc>
                  <a:txBody>
                    <a:bodyPr/>
                    <a:lstStyle/>
                    <a:p>
                      <a:r>
                        <a:rPr lang="en-US" sz="3600" b="1"/>
                        <a:t>Finance &amp; Administration (Part-Time)</a:t>
                      </a:r>
                      <a:endParaRPr lang="en-US" sz="3600"/>
                    </a:p>
                  </a:txBody>
                  <a:tcPr marL="37716" marR="37716" marT="18858" marB="18858" anchor="ctr">
                    <a:lnL>
                      <a:noFill/>
                    </a:lnL>
                    <a:lnR>
                      <a:noFill/>
                    </a:lnR>
                    <a:lnT>
                      <a:noFill/>
                    </a:lnT>
                    <a:lnB>
                      <a:noFill/>
                    </a:lnB>
                  </a:tcPr>
                </a:tc>
                <a:tc>
                  <a:txBody>
                    <a:bodyPr/>
                    <a:lstStyle/>
                    <a:p>
                      <a:r>
                        <a:rPr lang="en-US" sz="3600" dirty="0"/>
                        <a:t>1. Manage accounting, invoicing, and payments.2. Control expenses and budget planning.3. Prepare financial and tax reports.4. Handle legal and administrative documents.5. Support payroll and contract management.</a:t>
                      </a:r>
                    </a:p>
                  </a:txBody>
                  <a:tcPr marL="37716" marR="37716" marT="18858" marB="18858" anchor="ctr">
                    <a:lnL>
                      <a:noFill/>
                    </a:lnL>
                    <a:lnR>
                      <a:noFill/>
                    </a:lnR>
                    <a:lnT>
                      <a:noFill/>
                    </a:lnT>
                    <a:lnB>
                      <a:noFill/>
                    </a:lnB>
                  </a:tcPr>
                </a:tc>
                <a:extLst>
                  <a:ext uri="{0D108BD9-81ED-4DB2-BD59-A6C34878D82A}">
                    <a16:rowId xmlns:a16="http://schemas.microsoft.com/office/drawing/2014/main" val="1119583372"/>
                  </a:ext>
                </a:extLst>
              </a:tr>
            </a:tbl>
          </a:graphicData>
        </a:graphic>
      </p:graphicFrame>
    </p:spTree>
    <p:extLst>
      <p:ext uri="{BB962C8B-B14F-4D97-AF65-F5344CB8AC3E}">
        <p14:creationId xmlns:p14="http://schemas.microsoft.com/office/powerpoint/2010/main" val="1555795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A534283-00E1-4B60-A895-82B8664AA5D9}"/>
              </a:ext>
            </a:extLst>
          </p:cNvPr>
          <p:cNvGraphicFramePr>
            <a:graphicFrameLocks noGrp="1"/>
          </p:cNvGraphicFramePr>
          <p:nvPr>
            <p:extLst>
              <p:ext uri="{D42A27DB-BD31-4B8C-83A1-F6EECF244321}">
                <p14:modId xmlns:p14="http://schemas.microsoft.com/office/powerpoint/2010/main" val="341212874"/>
              </p:ext>
            </p:extLst>
          </p:nvPr>
        </p:nvGraphicFramePr>
        <p:xfrm>
          <a:off x="762000" y="1028700"/>
          <a:ext cx="16459203" cy="8925887"/>
        </p:xfrm>
        <a:graphic>
          <a:graphicData uri="http://schemas.openxmlformats.org/drawingml/2006/table">
            <a:tbl>
              <a:tblPr/>
              <a:tblGrid>
                <a:gridCol w="5064812">
                  <a:extLst>
                    <a:ext uri="{9D8B030D-6E8A-4147-A177-3AD203B41FA5}">
                      <a16:colId xmlns:a16="http://schemas.microsoft.com/office/drawing/2014/main" val="1725214359"/>
                    </a:ext>
                  </a:extLst>
                </a:gridCol>
                <a:gridCol w="3164789">
                  <a:extLst>
                    <a:ext uri="{9D8B030D-6E8A-4147-A177-3AD203B41FA5}">
                      <a16:colId xmlns:a16="http://schemas.microsoft.com/office/drawing/2014/main" val="4098086465"/>
                    </a:ext>
                  </a:extLst>
                </a:gridCol>
                <a:gridCol w="4114801">
                  <a:extLst>
                    <a:ext uri="{9D8B030D-6E8A-4147-A177-3AD203B41FA5}">
                      <a16:colId xmlns:a16="http://schemas.microsoft.com/office/drawing/2014/main" val="1592801039"/>
                    </a:ext>
                  </a:extLst>
                </a:gridCol>
                <a:gridCol w="4114801">
                  <a:extLst>
                    <a:ext uri="{9D8B030D-6E8A-4147-A177-3AD203B41FA5}">
                      <a16:colId xmlns:a16="http://schemas.microsoft.com/office/drawing/2014/main" val="3855347079"/>
                    </a:ext>
                  </a:extLst>
                </a:gridCol>
              </a:tblGrid>
              <a:tr h="1068446">
                <a:tc>
                  <a:txBody>
                    <a:bodyPr/>
                    <a:lstStyle/>
                    <a:p>
                      <a:r>
                        <a:rPr lang="en-US" sz="3200"/>
                        <a:t>TYPE</a:t>
                      </a:r>
                    </a:p>
                  </a:txBody>
                  <a:tcPr marL="61162" marR="61162" marT="30581" marB="30581" anchor="ctr">
                    <a:lnL>
                      <a:noFill/>
                    </a:lnL>
                    <a:lnR>
                      <a:noFill/>
                    </a:lnR>
                    <a:lnT>
                      <a:noFill/>
                    </a:lnT>
                    <a:lnB>
                      <a:noFill/>
                    </a:lnB>
                  </a:tcPr>
                </a:tc>
                <a:tc>
                  <a:txBody>
                    <a:bodyPr/>
                    <a:lstStyle/>
                    <a:p>
                      <a:pPr algn="r"/>
                      <a:r>
                        <a:rPr lang="en-US" sz="3200"/>
                        <a:t>PRICE / UNIT (RM)</a:t>
                      </a:r>
                    </a:p>
                  </a:txBody>
                  <a:tcPr marL="61162" marR="61162" marT="30581" marB="30581" anchor="ctr">
                    <a:lnL>
                      <a:noFill/>
                    </a:lnL>
                    <a:lnR>
                      <a:noFill/>
                    </a:lnR>
                    <a:lnT>
                      <a:noFill/>
                    </a:lnT>
                    <a:lnB>
                      <a:noFill/>
                    </a:lnB>
                  </a:tcPr>
                </a:tc>
                <a:tc>
                  <a:txBody>
                    <a:bodyPr/>
                    <a:lstStyle/>
                    <a:p>
                      <a:pPr algn="r"/>
                      <a:r>
                        <a:rPr lang="en-US" sz="3200"/>
                        <a:t>QUANTITY</a:t>
                      </a:r>
                    </a:p>
                  </a:txBody>
                  <a:tcPr marL="61162" marR="61162" marT="30581" marB="30581" anchor="ctr">
                    <a:lnL>
                      <a:noFill/>
                    </a:lnL>
                    <a:lnR>
                      <a:noFill/>
                    </a:lnR>
                    <a:lnT>
                      <a:noFill/>
                    </a:lnT>
                    <a:lnB>
                      <a:noFill/>
                    </a:lnB>
                  </a:tcPr>
                </a:tc>
                <a:tc>
                  <a:txBody>
                    <a:bodyPr/>
                    <a:lstStyle/>
                    <a:p>
                      <a:pPr algn="r"/>
                      <a:r>
                        <a:rPr lang="en-US" sz="3200"/>
                        <a:t>TOTAL AMOUNT (RM)</a:t>
                      </a:r>
                    </a:p>
                  </a:txBody>
                  <a:tcPr marL="61162" marR="61162" marT="30581" marB="30581" anchor="ctr">
                    <a:lnL>
                      <a:noFill/>
                    </a:lnL>
                    <a:lnR>
                      <a:noFill/>
                    </a:lnR>
                    <a:lnT>
                      <a:noFill/>
                    </a:lnT>
                    <a:lnB>
                      <a:noFill/>
                    </a:lnB>
                  </a:tcPr>
                </a:tc>
                <a:extLst>
                  <a:ext uri="{0D108BD9-81ED-4DB2-BD59-A6C34878D82A}">
                    <a16:rowId xmlns:a16="http://schemas.microsoft.com/office/drawing/2014/main" val="151599342"/>
                  </a:ext>
                </a:extLst>
              </a:tr>
              <a:tr h="761587">
                <a:tc>
                  <a:txBody>
                    <a:bodyPr/>
                    <a:lstStyle/>
                    <a:p>
                      <a:r>
                        <a:rPr lang="en-US" sz="3200"/>
                        <a:t>Cloud Server Subscription</a:t>
                      </a:r>
                    </a:p>
                  </a:txBody>
                  <a:tcPr marL="61162" marR="61162" marT="30581" marB="30581" anchor="ctr">
                    <a:lnL>
                      <a:noFill/>
                    </a:lnL>
                    <a:lnR>
                      <a:noFill/>
                    </a:lnR>
                    <a:lnT>
                      <a:noFill/>
                    </a:lnT>
                    <a:lnB>
                      <a:noFill/>
                    </a:lnB>
                  </a:tcPr>
                </a:tc>
                <a:tc>
                  <a:txBody>
                    <a:bodyPr/>
                    <a:lstStyle/>
                    <a:p>
                      <a:pPr algn="r"/>
                      <a:r>
                        <a:rPr lang="en-US" sz="3200"/>
                        <a:t>1,200.00</a:t>
                      </a:r>
                    </a:p>
                  </a:txBody>
                  <a:tcPr marL="61162" marR="61162" marT="30581" marB="30581" anchor="ctr">
                    <a:lnL>
                      <a:noFill/>
                    </a:lnL>
                    <a:lnR>
                      <a:noFill/>
                    </a:lnR>
                    <a:lnT>
                      <a:noFill/>
                    </a:lnT>
                    <a:lnB>
                      <a:noFill/>
                    </a:lnB>
                  </a:tcPr>
                </a:tc>
                <a:tc>
                  <a:txBody>
                    <a:bodyPr/>
                    <a:lstStyle/>
                    <a:p>
                      <a:pPr algn="r"/>
                      <a:r>
                        <a:rPr lang="en-US" sz="3200"/>
                        <a:t>1</a:t>
                      </a:r>
                    </a:p>
                  </a:txBody>
                  <a:tcPr marL="61162" marR="61162" marT="30581" marB="30581" anchor="ctr">
                    <a:lnL>
                      <a:noFill/>
                    </a:lnL>
                    <a:lnR>
                      <a:noFill/>
                    </a:lnR>
                    <a:lnT>
                      <a:noFill/>
                    </a:lnT>
                    <a:lnB>
                      <a:noFill/>
                    </a:lnB>
                  </a:tcPr>
                </a:tc>
                <a:tc>
                  <a:txBody>
                    <a:bodyPr/>
                    <a:lstStyle/>
                    <a:p>
                      <a:pPr algn="r"/>
                      <a:r>
                        <a:rPr lang="en-US" sz="3200"/>
                        <a:t>1,200.00</a:t>
                      </a:r>
                    </a:p>
                  </a:txBody>
                  <a:tcPr marL="61162" marR="61162" marT="30581" marB="30581" anchor="ctr">
                    <a:lnL>
                      <a:noFill/>
                    </a:lnL>
                    <a:lnR>
                      <a:noFill/>
                    </a:lnR>
                    <a:lnT>
                      <a:noFill/>
                    </a:lnT>
                    <a:lnB>
                      <a:noFill/>
                    </a:lnB>
                  </a:tcPr>
                </a:tc>
                <a:extLst>
                  <a:ext uri="{0D108BD9-81ED-4DB2-BD59-A6C34878D82A}">
                    <a16:rowId xmlns:a16="http://schemas.microsoft.com/office/drawing/2014/main" val="1329440696"/>
                  </a:ext>
                </a:extLst>
              </a:tr>
              <a:tr h="761587">
                <a:tc>
                  <a:txBody>
                    <a:bodyPr/>
                    <a:lstStyle/>
                    <a:p>
                      <a:r>
                        <a:rPr lang="en-US" sz="3200"/>
                        <a:t>Software Licenses (AI Tools)</a:t>
                      </a:r>
                    </a:p>
                  </a:txBody>
                  <a:tcPr marL="61162" marR="61162" marT="30581" marB="30581" anchor="ctr">
                    <a:lnL>
                      <a:noFill/>
                    </a:lnL>
                    <a:lnR>
                      <a:noFill/>
                    </a:lnR>
                    <a:lnT>
                      <a:noFill/>
                    </a:lnT>
                    <a:lnB>
                      <a:noFill/>
                    </a:lnB>
                  </a:tcPr>
                </a:tc>
                <a:tc>
                  <a:txBody>
                    <a:bodyPr/>
                    <a:lstStyle/>
                    <a:p>
                      <a:pPr algn="r"/>
                      <a:r>
                        <a:rPr lang="en-US" sz="3200"/>
                        <a:t>1,500.00</a:t>
                      </a:r>
                    </a:p>
                  </a:txBody>
                  <a:tcPr marL="61162" marR="61162" marT="30581" marB="30581" anchor="ctr">
                    <a:lnL>
                      <a:noFill/>
                    </a:lnL>
                    <a:lnR>
                      <a:noFill/>
                    </a:lnR>
                    <a:lnT>
                      <a:noFill/>
                    </a:lnT>
                    <a:lnB>
                      <a:noFill/>
                    </a:lnB>
                  </a:tcPr>
                </a:tc>
                <a:tc>
                  <a:txBody>
                    <a:bodyPr/>
                    <a:lstStyle/>
                    <a:p>
                      <a:pPr algn="r"/>
                      <a:r>
                        <a:rPr lang="en-US" sz="3200"/>
                        <a:t>1</a:t>
                      </a:r>
                    </a:p>
                  </a:txBody>
                  <a:tcPr marL="61162" marR="61162" marT="30581" marB="30581" anchor="ctr">
                    <a:lnL>
                      <a:noFill/>
                    </a:lnL>
                    <a:lnR>
                      <a:noFill/>
                    </a:lnR>
                    <a:lnT>
                      <a:noFill/>
                    </a:lnT>
                    <a:lnB>
                      <a:noFill/>
                    </a:lnB>
                  </a:tcPr>
                </a:tc>
                <a:tc>
                  <a:txBody>
                    <a:bodyPr/>
                    <a:lstStyle/>
                    <a:p>
                      <a:pPr algn="r"/>
                      <a:r>
                        <a:rPr lang="en-US" sz="3200"/>
                        <a:t>1,500.00</a:t>
                      </a:r>
                    </a:p>
                  </a:txBody>
                  <a:tcPr marL="61162" marR="61162" marT="30581" marB="30581" anchor="ctr">
                    <a:lnL>
                      <a:noFill/>
                    </a:lnL>
                    <a:lnR>
                      <a:noFill/>
                    </a:lnR>
                    <a:lnT>
                      <a:noFill/>
                    </a:lnT>
                    <a:lnB>
                      <a:noFill/>
                    </a:lnB>
                  </a:tcPr>
                </a:tc>
                <a:extLst>
                  <a:ext uri="{0D108BD9-81ED-4DB2-BD59-A6C34878D82A}">
                    <a16:rowId xmlns:a16="http://schemas.microsoft.com/office/drawing/2014/main" val="1484389048"/>
                  </a:ext>
                </a:extLst>
              </a:tr>
              <a:tr h="761587">
                <a:tc>
                  <a:txBody>
                    <a:bodyPr/>
                    <a:lstStyle/>
                    <a:p>
                      <a:r>
                        <a:rPr lang="en-US" sz="3200"/>
                        <a:t>Project Management Tools</a:t>
                      </a:r>
                    </a:p>
                  </a:txBody>
                  <a:tcPr marL="61162" marR="61162" marT="30581" marB="30581" anchor="ctr">
                    <a:lnL>
                      <a:noFill/>
                    </a:lnL>
                    <a:lnR>
                      <a:noFill/>
                    </a:lnR>
                    <a:lnT>
                      <a:noFill/>
                    </a:lnT>
                    <a:lnB>
                      <a:noFill/>
                    </a:lnB>
                  </a:tcPr>
                </a:tc>
                <a:tc>
                  <a:txBody>
                    <a:bodyPr/>
                    <a:lstStyle/>
                    <a:p>
                      <a:pPr algn="r"/>
                      <a:r>
                        <a:rPr lang="en-US" sz="3200"/>
                        <a:t>400.00</a:t>
                      </a:r>
                    </a:p>
                  </a:txBody>
                  <a:tcPr marL="61162" marR="61162" marT="30581" marB="30581" anchor="ctr">
                    <a:lnL>
                      <a:noFill/>
                    </a:lnL>
                    <a:lnR>
                      <a:noFill/>
                    </a:lnR>
                    <a:lnT>
                      <a:noFill/>
                    </a:lnT>
                    <a:lnB>
                      <a:noFill/>
                    </a:lnB>
                  </a:tcPr>
                </a:tc>
                <a:tc>
                  <a:txBody>
                    <a:bodyPr/>
                    <a:lstStyle/>
                    <a:p>
                      <a:pPr algn="r"/>
                      <a:r>
                        <a:rPr lang="en-US" sz="3200"/>
                        <a:t>1</a:t>
                      </a:r>
                    </a:p>
                  </a:txBody>
                  <a:tcPr marL="61162" marR="61162" marT="30581" marB="30581" anchor="ctr">
                    <a:lnL>
                      <a:noFill/>
                    </a:lnL>
                    <a:lnR>
                      <a:noFill/>
                    </a:lnR>
                    <a:lnT>
                      <a:noFill/>
                    </a:lnT>
                    <a:lnB>
                      <a:noFill/>
                    </a:lnB>
                  </a:tcPr>
                </a:tc>
                <a:tc>
                  <a:txBody>
                    <a:bodyPr/>
                    <a:lstStyle/>
                    <a:p>
                      <a:pPr algn="r"/>
                      <a:r>
                        <a:rPr lang="en-US" sz="3200"/>
                        <a:t>400.00</a:t>
                      </a:r>
                    </a:p>
                  </a:txBody>
                  <a:tcPr marL="61162" marR="61162" marT="30581" marB="30581" anchor="ctr">
                    <a:lnL>
                      <a:noFill/>
                    </a:lnL>
                    <a:lnR>
                      <a:noFill/>
                    </a:lnR>
                    <a:lnT>
                      <a:noFill/>
                    </a:lnT>
                    <a:lnB>
                      <a:noFill/>
                    </a:lnB>
                  </a:tcPr>
                </a:tc>
                <a:extLst>
                  <a:ext uri="{0D108BD9-81ED-4DB2-BD59-A6C34878D82A}">
                    <a16:rowId xmlns:a16="http://schemas.microsoft.com/office/drawing/2014/main" val="315779361"/>
                  </a:ext>
                </a:extLst>
              </a:tr>
              <a:tr h="565746">
                <a:tc>
                  <a:txBody>
                    <a:bodyPr/>
                    <a:lstStyle/>
                    <a:p>
                      <a:r>
                        <a:rPr lang="en-US" sz="3200"/>
                        <a:t>Domain &amp; Hosting</a:t>
                      </a:r>
                    </a:p>
                  </a:txBody>
                  <a:tcPr marL="61162" marR="61162" marT="30581" marB="30581" anchor="ctr">
                    <a:lnL>
                      <a:noFill/>
                    </a:lnL>
                    <a:lnR>
                      <a:noFill/>
                    </a:lnR>
                    <a:lnT>
                      <a:noFill/>
                    </a:lnT>
                    <a:lnB>
                      <a:noFill/>
                    </a:lnB>
                  </a:tcPr>
                </a:tc>
                <a:tc>
                  <a:txBody>
                    <a:bodyPr/>
                    <a:lstStyle/>
                    <a:p>
                      <a:pPr algn="r"/>
                      <a:r>
                        <a:rPr lang="en-US" sz="3200"/>
                        <a:t>300.00</a:t>
                      </a:r>
                    </a:p>
                  </a:txBody>
                  <a:tcPr marL="61162" marR="61162" marT="30581" marB="30581" anchor="ctr">
                    <a:lnL>
                      <a:noFill/>
                    </a:lnL>
                    <a:lnR>
                      <a:noFill/>
                    </a:lnR>
                    <a:lnT>
                      <a:noFill/>
                    </a:lnT>
                    <a:lnB>
                      <a:noFill/>
                    </a:lnB>
                  </a:tcPr>
                </a:tc>
                <a:tc>
                  <a:txBody>
                    <a:bodyPr/>
                    <a:lstStyle/>
                    <a:p>
                      <a:pPr algn="r"/>
                      <a:r>
                        <a:rPr lang="en-US" sz="3200"/>
                        <a:t>1</a:t>
                      </a:r>
                    </a:p>
                  </a:txBody>
                  <a:tcPr marL="61162" marR="61162" marT="30581" marB="30581" anchor="ctr">
                    <a:lnL>
                      <a:noFill/>
                    </a:lnL>
                    <a:lnR>
                      <a:noFill/>
                    </a:lnR>
                    <a:lnT>
                      <a:noFill/>
                    </a:lnT>
                    <a:lnB>
                      <a:noFill/>
                    </a:lnB>
                  </a:tcPr>
                </a:tc>
                <a:tc>
                  <a:txBody>
                    <a:bodyPr/>
                    <a:lstStyle/>
                    <a:p>
                      <a:pPr algn="r"/>
                      <a:r>
                        <a:rPr lang="en-US" sz="3200"/>
                        <a:t>300.00</a:t>
                      </a:r>
                    </a:p>
                  </a:txBody>
                  <a:tcPr marL="61162" marR="61162" marT="30581" marB="30581" anchor="ctr">
                    <a:lnL>
                      <a:noFill/>
                    </a:lnL>
                    <a:lnR>
                      <a:noFill/>
                    </a:lnR>
                    <a:lnT>
                      <a:noFill/>
                    </a:lnT>
                    <a:lnB>
                      <a:noFill/>
                    </a:lnB>
                  </a:tcPr>
                </a:tc>
                <a:extLst>
                  <a:ext uri="{0D108BD9-81ED-4DB2-BD59-A6C34878D82A}">
                    <a16:rowId xmlns:a16="http://schemas.microsoft.com/office/drawing/2014/main" val="1923011156"/>
                  </a:ext>
                </a:extLst>
              </a:tr>
              <a:tr h="761587">
                <a:tc>
                  <a:txBody>
                    <a:bodyPr/>
                    <a:lstStyle/>
                    <a:p>
                      <a:r>
                        <a:rPr lang="en-US" sz="3200"/>
                        <a:t>Cybersecurity Services</a:t>
                      </a:r>
                    </a:p>
                  </a:txBody>
                  <a:tcPr marL="61162" marR="61162" marT="30581" marB="30581" anchor="ctr">
                    <a:lnL>
                      <a:noFill/>
                    </a:lnL>
                    <a:lnR>
                      <a:noFill/>
                    </a:lnR>
                    <a:lnT>
                      <a:noFill/>
                    </a:lnT>
                    <a:lnB>
                      <a:noFill/>
                    </a:lnB>
                  </a:tcPr>
                </a:tc>
                <a:tc>
                  <a:txBody>
                    <a:bodyPr/>
                    <a:lstStyle/>
                    <a:p>
                      <a:pPr algn="r"/>
                      <a:r>
                        <a:rPr lang="en-US" sz="3200"/>
                        <a:t>600.00</a:t>
                      </a:r>
                    </a:p>
                  </a:txBody>
                  <a:tcPr marL="61162" marR="61162" marT="30581" marB="30581" anchor="ctr">
                    <a:lnL>
                      <a:noFill/>
                    </a:lnL>
                    <a:lnR>
                      <a:noFill/>
                    </a:lnR>
                    <a:lnT>
                      <a:noFill/>
                    </a:lnT>
                    <a:lnB>
                      <a:noFill/>
                    </a:lnB>
                  </a:tcPr>
                </a:tc>
                <a:tc>
                  <a:txBody>
                    <a:bodyPr/>
                    <a:lstStyle/>
                    <a:p>
                      <a:pPr algn="r"/>
                      <a:r>
                        <a:rPr lang="en-US" sz="3200"/>
                        <a:t>1</a:t>
                      </a:r>
                    </a:p>
                  </a:txBody>
                  <a:tcPr marL="61162" marR="61162" marT="30581" marB="30581" anchor="ctr">
                    <a:lnL>
                      <a:noFill/>
                    </a:lnL>
                    <a:lnR>
                      <a:noFill/>
                    </a:lnR>
                    <a:lnT>
                      <a:noFill/>
                    </a:lnT>
                    <a:lnB>
                      <a:noFill/>
                    </a:lnB>
                  </a:tcPr>
                </a:tc>
                <a:tc>
                  <a:txBody>
                    <a:bodyPr/>
                    <a:lstStyle/>
                    <a:p>
                      <a:pPr algn="r"/>
                      <a:r>
                        <a:rPr lang="en-US" sz="3200"/>
                        <a:t>600.00</a:t>
                      </a:r>
                    </a:p>
                  </a:txBody>
                  <a:tcPr marL="61162" marR="61162" marT="30581" marB="30581" anchor="ctr">
                    <a:lnL>
                      <a:noFill/>
                    </a:lnL>
                    <a:lnR>
                      <a:noFill/>
                    </a:lnR>
                    <a:lnT>
                      <a:noFill/>
                    </a:lnT>
                    <a:lnB>
                      <a:noFill/>
                    </a:lnB>
                  </a:tcPr>
                </a:tc>
                <a:extLst>
                  <a:ext uri="{0D108BD9-81ED-4DB2-BD59-A6C34878D82A}">
                    <a16:rowId xmlns:a16="http://schemas.microsoft.com/office/drawing/2014/main" val="612546847"/>
                  </a:ext>
                </a:extLst>
              </a:tr>
              <a:tr h="761587">
                <a:tc>
                  <a:txBody>
                    <a:bodyPr/>
                    <a:lstStyle/>
                    <a:p>
                      <a:r>
                        <a:rPr lang="en-US" sz="3200"/>
                        <a:t>Online Collaboration Tools</a:t>
                      </a:r>
                    </a:p>
                  </a:txBody>
                  <a:tcPr marL="61162" marR="61162" marT="30581" marB="30581" anchor="ctr">
                    <a:lnL>
                      <a:noFill/>
                    </a:lnL>
                    <a:lnR>
                      <a:noFill/>
                    </a:lnR>
                    <a:lnT>
                      <a:noFill/>
                    </a:lnT>
                    <a:lnB>
                      <a:noFill/>
                    </a:lnB>
                  </a:tcPr>
                </a:tc>
                <a:tc>
                  <a:txBody>
                    <a:bodyPr/>
                    <a:lstStyle/>
                    <a:p>
                      <a:pPr algn="r"/>
                      <a:r>
                        <a:rPr lang="en-US" sz="3200" dirty="0"/>
                        <a:t>350.00</a:t>
                      </a:r>
                    </a:p>
                  </a:txBody>
                  <a:tcPr marL="61162" marR="61162" marT="30581" marB="30581" anchor="ctr">
                    <a:lnL>
                      <a:noFill/>
                    </a:lnL>
                    <a:lnR>
                      <a:noFill/>
                    </a:lnR>
                    <a:lnT>
                      <a:noFill/>
                    </a:lnT>
                    <a:lnB>
                      <a:noFill/>
                    </a:lnB>
                  </a:tcPr>
                </a:tc>
                <a:tc>
                  <a:txBody>
                    <a:bodyPr/>
                    <a:lstStyle/>
                    <a:p>
                      <a:pPr algn="r"/>
                      <a:r>
                        <a:rPr lang="en-US" sz="3200"/>
                        <a:t>1</a:t>
                      </a:r>
                    </a:p>
                  </a:txBody>
                  <a:tcPr marL="61162" marR="61162" marT="30581" marB="30581" anchor="ctr">
                    <a:lnL>
                      <a:noFill/>
                    </a:lnL>
                    <a:lnR>
                      <a:noFill/>
                    </a:lnR>
                    <a:lnT>
                      <a:noFill/>
                    </a:lnT>
                    <a:lnB>
                      <a:noFill/>
                    </a:lnB>
                  </a:tcPr>
                </a:tc>
                <a:tc>
                  <a:txBody>
                    <a:bodyPr/>
                    <a:lstStyle/>
                    <a:p>
                      <a:pPr algn="r"/>
                      <a:r>
                        <a:rPr lang="en-US" sz="3200"/>
                        <a:t>350.00</a:t>
                      </a:r>
                    </a:p>
                  </a:txBody>
                  <a:tcPr marL="61162" marR="61162" marT="30581" marB="30581" anchor="ctr">
                    <a:lnL>
                      <a:noFill/>
                    </a:lnL>
                    <a:lnR>
                      <a:noFill/>
                    </a:lnR>
                    <a:lnT>
                      <a:noFill/>
                    </a:lnT>
                    <a:lnB>
                      <a:noFill/>
                    </a:lnB>
                  </a:tcPr>
                </a:tc>
                <a:extLst>
                  <a:ext uri="{0D108BD9-81ED-4DB2-BD59-A6C34878D82A}">
                    <a16:rowId xmlns:a16="http://schemas.microsoft.com/office/drawing/2014/main" val="3601026282"/>
                  </a:ext>
                </a:extLst>
              </a:tr>
              <a:tr h="761587">
                <a:tc>
                  <a:txBody>
                    <a:bodyPr/>
                    <a:lstStyle/>
                    <a:p>
                      <a:r>
                        <a:rPr lang="en-US" sz="3200"/>
                        <a:t>Data Storage (Cloud)</a:t>
                      </a:r>
                    </a:p>
                  </a:txBody>
                  <a:tcPr marL="61162" marR="61162" marT="30581" marB="30581" anchor="ctr">
                    <a:lnL>
                      <a:noFill/>
                    </a:lnL>
                    <a:lnR>
                      <a:noFill/>
                    </a:lnR>
                    <a:lnT>
                      <a:noFill/>
                    </a:lnT>
                    <a:lnB>
                      <a:noFill/>
                    </a:lnB>
                  </a:tcPr>
                </a:tc>
                <a:tc>
                  <a:txBody>
                    <a:bodyPr/>
                    <a:lstStyle/>
                    <a:p>
                      <a:pPr algn="r"/>
                      <a:r>
                        <a:rPr lang="en-US" sz="3200"/>
                        <a:t>450.00</a:t>
                      </a:r>
                    </a:p>
                  </a:txBody>
                  <a:tcPr marL="61162" marR="61162" marT="30581" marB="30581" anchor="ctr">
                    <a:lnL>
                      <a:noFill/>
                    </a:lnL>
                    <a:lnR>
                      <a:noFill/>
                    </a:lnR>
                    <a:lnT>
                      <a:noFill/>
                    </a:lnT>
                    <a:lnB>
                      <a:noFill/>
                    </a:lnB>
                  </a:tcPr>
                </a:tc>
                <a:tc>
                  <a:txBody>
                    <a:bodyPr/>
                    <a:lstStyle/>
                    <a:p>
                      <a:pPr algn="r"/>
                      <a:r>
                        <a:rPr lang="en-US" sz="3200"/>
                        <a:t>1</a:t>
                      </a:r>
                    </a:p>
                  </a:txBody>
                  <a:tcPr marL="61162" marR="61162" marT="30581" marB="30581" anchor="ctr">
                    <a:lnL>
                      <a:noFill/>
                    </a:lnL>
                    <a:lnR>
                      <a:noFill/>
                    </a:lnR>
                    <a:lnT>
                      <a:noFill/>
                    </a:lnT>
                    <a:lnB>
                      <a:noFill/>
                    </a:lnB>
                  </a:tcPr>
                </a:tc>
                <a:tc>
                  <a:txBody>
                    <a:bodyPr/>
                    <a:lstStyle/>
                    <a:p>
                      <a:pPr algn="r"/>
                      <a:r>
                        <a:rPr lang="en-US" sz="3200"/>
                        <a:t>450.00</a:t>
                      </a:r>
                    </a:p>
                  </a:txBody>
                  <a:tcPr marL="61162" marR="61162" marT="30581" marB="30581" anchor="ctr">
                    <a:lnL>
                      <a:noFill/>
                    </a:lnL>
                    <a:lnR>
                      <a:noFill/>
                    </a:lnR>
                    <a:lnT>
                      <a:noFill/>
                    </a:lnT>
                    <a:lnB>
                      <a:noFill/>
                    </a:lnB>
                  </a:tcPr>
                </a:tc>
                <a:extLst>
                  <a:ext uri="{0D108BD9-81ED-4DB2-BD59-A6C34878D82A}">
                    <a16:rowId xmlns:a16="http://schemas.microsoft.com/office/drawing/2014/main" val="3723416767"/>
                  </a:ext>
                </a:extLst>
              </a:tr>
              <a:tr h="1068446">
                <a:tc>
                  <a:txBody>
                    <a:bodyPr/>
                    <a:lstStyle/>
                    <a:p>
                      <a:r>
                        <a:rPr lang="en-US" sz="3200"/>
                        <a:t>API Usage (AI / NLP Services)</a:t>
                      </a:r>
                    </a:p>
                  </a:txBody>
                  <a:tcPr marL="61162" marR="61162" marT="30581" marB="30581" anchor="ctr">
                    <a:lnL>
                      <a:noFill/>
                    </a:lnL>
                    <a:lnR>
                      <a:noFill/>
                    </a:lnR>
                    <a:lnT>
                      <a:noFill/>
                    </a:lnT>
                    <a:lnB>
                      <a:noFill/>
                    </a:lnB>
                  </a:tcPr>
                </a:tc>
                <a:tc>
                  <a:txBody>
                    <a:bodyPr/>
                    <a:lstStyle/>
                    <a:p>
                      <a:pPr algn="r"/>
                      <a:r>
                        <a:rPr lang="en-US" sz="3200"/>
                        <a:t>2,000.00</a:t>
                      </a:r>
                    </a:p>
                  </a:txBody>
                  <a:tcPr marL="61162" marR="61162" marT="30581" marB="30581" anchor="ctr">
                    <a:lnL>
                      <a:noFill/>
                    </a:lnL>
                    <a:lnR>
                      <a:noFill/>
                    </a:lnR>
                    <a:lnT>
                      <a:noFill/>
                    </a:lnT>
                    <a:lnB>
                      <a:noFill/>
                    </a:lnB>
                  </a:tcPr>
                </a:tc>
                <a:tc>
                  <a:txBody>
                    <a:bodyPr/>
                    <a:lstStyle/>
                    <a:p>
                      <a:pPr algn="r"/>
                      <a:r>
                        <a:rPr lang="en-US" sz="3200"/>
                        <a:t>1</a:t>
                      </a:r>
                    </a:p>
                  </a:txBody>
                  <a:tcPr marL="61162" marR="61162" marT="30581" marB="30581" anchor="ctr">
                    <a:lnL>
                      <a:noFill/>
                    </a:lnL>
                    <a:lnR>
                      <a:noFill/>
                    </a:lnR>
                    <a:lnT>
                      <a:noFill/>
                    </a:lnT>
                    <a:lnB>
                      <a:noFill/>
                    </a:lnB>
                  </a:tcPr>
                </a:tc>
                <a:tc>
                  <a:txBody>
                    <a:bodyPr/>
                    <a:lstStyle/>
                    <a:p>
                      <a:pPr algn="r"/>
                      <a:r>
                        <a:rPr lang="en-US" sz="3200"/>
                        <a:t>2,000.00</a:t>
                      </a:r>
                    </a:p>
                  </a:txBody>
                  <a:tcPr marL="61162" marR="61162" marT="30581" marB="30581" anchor="ctr">
                    <a:lnL>
                      <a:noFill/>
                    </a:lnL>
                    <a:lnR>
                      <a:noFill/>
                    </a:lnR>
                    <a:lnT>
                      <a:noFill/>
                    </a:lnT>
                    <a:lnB>
                      <a:noFill/>
                    </a:lnB>
                  </a:tcPr>
                </a:tc>
                <a:extLst>
                  <a:ext uri="{0D108BD9-81ED-4DB2-BD59-A6C34878D82A}">
                    <a16:rowId xmlns:a16="http://schemas.microsoft.com/office/drawing/2014/main" val="2275777543"/>
                  </a:ext>
                </a:extLst>
              </a:tr>
              <a:tr h="1087981">
                <a:tc>
                  <a:txBody>
                    <a:bodyPr/>
                    <a:lstStyle/>
                    <a:p>
                      <a:r>
                        <a:rPr lang="en-US" sz="3200"/>
                        <a:t>Backup &amp; Maintenance Services</a:t>
                      </a:r>
                    </a:p>
                  </a:txBody>
                  <a:tcPr marL="61162" marR="61162" marT="30581" marB="30581" anchor="ctr">
                    <a:lnL>
                      <a:noFill/>
                    </a:lnL>
                    <a:lnR>
                      <a:noFill/>
                    </a:lnR>
                    <a:lnT>
                      <a:noFill/>
                    </a:lnT>
                    <a:lnB>
                      <a:noFill/>
                    </a:lnB>
                  </a:tcPr>
                </a:tc>
                <a:tc>
                  <a:txBody>
                    <a:bodyPr/>
                    <a:lstStyle/>
                    <a:p>
                      <a:pPr algn="r"/>
                      <a:r>
                        <a:rPr lang="en-US" sz="3200"/>
                        <a:t>700.00</a:t>
                      </a:r>
                    </a:p>
                  </a:txBody>
                  <a:tcPr marL="61162" marR="61162" marT="30581" marB="30581" anchor="ctr">
                    <a:lnL>
                      <a:noFill/>
                    </a:lnL>
                    <a:lnR>
                      <a:noFill/>
                    </a:lnR>
                    <a:lnT>
                      <a:noFill/>
                    </a:lnT>
                    <a:lnB>
                      <a:noFill/>
                    </a:lnB>
                  </a:tcPr>
                </a:tc>
                <a:tc>
                  <a:txBody>
                    <a:bodyPr/>
                    <a:lstStyle/>
                    <a:p>
                      <a:pPr algn="r"/>
                      <a:r>
                        <a:rPr lang="en-US" sz="3200"/>
                        <a:t>1</a:t>
                      </a:r>
                    </a:p>
                  </a:txBody>
                  <a:tcPr marL="61162" marR="61162" marT="30581" marB="30581" anchor="ctr">
                    <a:lnL>
                      <a:noFill/>
                    </a:lnL>
                    <a:lnR>
                      <a:noFill/>
                    </a:lnR>
                    <a:lnT>
                      <a:noFill/>
                    </a:lnT>
                    <a:lnB>
                      <a:noFill/>
                    </a:lnB>
                  </a:tcPr>
                </a:tc>
                <a:tc>
                  <a:txBody>
                    <a:bodyPr/>
                    <a:lstStyle/>
                    <a:p>
                      <a:pPr algn="r"/>
                      <a:r>
                        <a:rPr lang="en-US" sz="3200"/>
                        <a:t>700.00</a:t>
                      </a:r>
                    </a:p>
                  </a:txBody>
                  <a:tcPr marL="61162" marR="61162" marT="30581" marB="30581" anchor="ctr">
                    <a:lnL>
                      <a:noFill/>
                    </a:lnL>
                    <a:lnR>
                      <a:noFill/>
                    </a:lnR>
                    <a:lnT>
                      <a:noFill/>
                    </a:lnT>
                    <a:lnB>
                      <a:noFill/>
                    </a:lnB>
                  </a:tcPr>
                </a:tc>
                <a:extLst>
                  <a:ext uri="{0D108BD9-81ED-4DB2-BD59-A6C34878D82A}">
                    <a16:rowId xmlns:a16="http://schemas.microsoft.com/office/drawing/2014/main" val="1048339243"/>
                  </a:ext>
                </a:extLst>
              </a:tr>
              <a:tr h="565746">
                <a:tc>
                  <a:txBody>
                    <a:bodyPr/>
                    <a:lstStyle/>
                    <a:p>
                      <a:r>
                        <a:rPr lang="en-US" sz="3200" b="1"/>
                        <a:t>TOTAL</a:t>
                      </a:r>
                      <a:endParaRPr lang="en-US" sz="3200"/>
                    </a:p>
                  </a:txBody>
                  <a:tcPr marL="61162" marR="61162" marT="30581" marB="30581" anchor="ctr">
                    <a:lnL>
                      <a:noFill/>
                    </a:lnL>
                    <a:lnR>
                      <a:noFill/>
                    </a:lnR>
                    <a:lnT>
                      <a:noFill/>
                    </a:lnT>
                    <a:lnB>
                      <a:noFill/>
                    </a:lnB>
                  </a:tcPr>
                </a:tc>
                <a:tc>
                  <a:txBody>
                    <a:bodyPr/>
                    <a:lstStyle/>
                    <a:p>
                      <a:pPr algn="r"/>
                      <a:endParaRPr lang="en-US" sz="3200"/>
                    </a:p>
                  </a:txBody>
                  <a:tcPr marL="61162" marR="61162" marT="30581" marB="30581" anchor="ctr">
                    <a:lnL>
                      <a:noFill/>
                    </a:lnL>
                    <a:lnR>
                      <a:noFill/>
                    </a:lnR>
                    <a:lnT>
                      <a:noFill/>
                    </a:lnT>
                    <a:lnB>
                      <a:noFill/>
                    </a:lnB>
                  </a:tcPr>
                </a:tc>
                <a:tc>
                  <a:txBody>
                    <a:bodyPr/>
                    <a:lstStyle/>
                    <a:p>
                      <a:pPr algn="r"/>
                      <a:endParaRPr lang="en-US" sz="3200"/>
                    </a:p>
                  </a:txBody>
                  <a:tcPr marL="61162" marR="61162" marT="30581" marB="30581" anchor="ctr">
                    <a:lnL>
                      <a:noFill/>
                    </a:lnL>
                    <a:lnR>
                      <a:noFill/>
                    </a:lnR>
                    <a:lnT>
                      <a:noFill/>
                    </a:lnT>
                    <a:lnB>
                      <a:noFill/>
                    </a:lnB>
                  </a:tcPr>
                </a:tc>
                <a:tc>
                  <a:txBody>
                    <a:bodyPr/>
                    <a:lstStyle/>
                    <a:p>
                      <a:pPr algn="r"/>
                      <a:r>
                        <a:rPr lang="en-US" sz="3200" b="1" dirty="0"/>
                        <a:t>RM 7,500.00</a:t>
                      </a:r>
                      <a:endParaRPr lang="en-US" sz="3200" dirty="0"/>
                    </a:p>
                  </a:txBody>
                  <a:tcPr marL="61162" marR="61162" marT="30581" marB="30581" anchor="ctr">
                    <a:lnL>
                      <a:noFill/>
                    </a:lnL>
                    <a:lnR>
                      <a:noFill/>
                    </a:lnR>
                    <a:lnT>
                      <a:noFill/>
                    </a:lnT>
                    <a:lnB>
                      <a:noFill/>
                    </a:lnB>
                  </a:tcPr>
                </a:tc>
                <a:extLst>
                  <a:ext uri="{0D108BD9-81ED-4DB2-BD59-A6C34878D82A}">
                    <a16:rowId xmlns:a16="http://schemas.microsoft.com/office/drawing/2014/main" val="1712427856"/>
                  </a:ext>
                </a:extLst>
              </a:tr>
            </a:tbl>
          </a:graphicData>
        </a:graphic>
      </p:graphicFrame>
    </p:spTree>
    <p:extLst>
      <p:ext uri="{BB962C8B-B14F-4D97-AF65-F5344CB8AC3E}">
        <p14:creationId xmlns:p14="http://schemas.microsoft.com/office/powerpoint/2010/main" val="2070427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think-cell data - do not delete" hidden="1">
            <a:extLst>
              <a:ext uri="{FF2B5EF4-FFF2-40B4-BE49-F238E27FC236}">
                <a16:creationId xmlns:a16="http://schemas.microsoft.com/office/drawing/2014/main" id="{5C50CD8E-70AA-4AD4-9F83-01812F8D6DC5}"/>
              </a:ext>
            </a:extLst>
          </p:cNvPr>
          <p:cNvGraphicFramePr>
            <a:graphicFrameLocks noChangeAspect="1"/>
          </p:cNvGraphicFramePr>
          <p:nvPr>
            <p:custDataLst>
              <p:tags r:id="rId2"/>
            </p:custDataLst>
          </p:nvPr>
        </p:nvGraphicFramePr>
        <p:xfrm>
          <a:off x="2288383" y="2383"/>
          <a:ext cx="2381" cy="2381"/>
        </p:xfrm>
        <a:graphic>
          <a:graphicData uri="http://schemas.openxmlformats.org/presentationml/2006/ole">
            <mc:AlternateContent xmlns:mc="http://schemas.openxmlformats.org/markup-compatibility/2006">
              <mc:Choice xmlns:v="urn:schemas-microsoft-com:vml" Requires="v">
                <p:oleObj spid="_x0000_s8197" name="think-cell Slide" r:id="rId4" imgW="425" imgH="424" progId="TCLayout.ActiveDocument.1">
                  <p:embed/>
                </p:oleObj>
              </mc:Choice>
              <mc:Fallback>
                <p:oleObj name="think-cell Slide" r:id="rId4" imgW="425" imgH="424" progId="TCLayout.ActiveDocument.1">
                  <p:embed/>
                  <p:pic>
                    <p:nvPicPr>
                      <p:cNvPr id="14338" name="think-cell data - do not delete" hidden="1">
                        <a:extLst>
                          <a:ext uri="{FF2B5EF4-FFF2-40B4-BE49-F238E27FC236}">
                            <a16:creationId xmlns:a16="http://schemas.microsoft.com/office/drawing/2014/main" id="{5C50CD8E-70AA-4AD4-9F83-01812F8D6D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8383" y="2383"/>
                        <a:ext cx="2381" cy="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39" name="Title 1">
            <a:extLst>
              <a:ext uri="{FF2B5EF4-FFF2-40B4-BE49-F238E27FC236}">
                <a16:creationId xmlns:a16="http://schemas.microsoft.com/office/drawing/2014/main" id="{998B1977-0DC2-4DFD-ACBA-FA31341A7E51}"/>
              </a:ext>
            </a:extLst>
          </p:cNvPr>
          <p:cNvSpPr>
            <a:spLocks noGrp="1" noChangeArrowheads="1"/>
          </p:cNvSpPr>
          <p:nvPr>
            <p:ph type="ctrTitle"/>
          </p:nvPr>
        </p:nvSpPr>
        <p:spPr>
          <a:xfrm>
            <a:off x="3314700" y="3429000"/>
            <a:ext cx="11315700" cy="2286000"/>
          </a:xfrm>
        </p:spPr>
        <p:style>
          <a:lnRef idx="1">
            <a:schemeClr val="accent3"/>
          </a:lnRef>
          <a:fillRef idx="2">
            <a:schemeClr val="accent3"/>
          </a:fillRef>
          <a:effectRef idx="1">
            <a:schemeClr val="accent3"/>
          </a:effectRef>
          <a:fontRef idx="minor">
            <a:schemeClr val="dk1"/>
          </a:fontRef>
        </p:style>
        <p:txBody>
          <a:bodyPr/>
          <a:lstStyle/>
          <a:p>
            <a:pPr eaLnBrk="1" hangingPunct="1"/>
            <a:r>
              <a:rPr lang="en-US" altLang="ka-GE" dirty="0">
                <a:latin typeface="Arial" panose="020B0604020202020204" pitchFamily="34" charset="0"/>
                <a:cs typeface="Arial" panose="020B0604020202020204" pitchFamily="34" charset="0"/>
              </a:rPr>
              <a:t>MARKETING PLAN</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EAA5F25-B685-482D-AE8B-B5494124A455}"/>
              </a:ext>
            </a:extLst>
          </p:cNvPr>
          <p:cNvGraphicFramePr>
            <a:graphicFrameLocks noGrp="1"/>
          </p:cNvGraphicFramePr>
          <p:nvPr>
            <p:extLst>
              <p:ext uri="{D42A27DB-BD31-4B8C-83A1-F6EECF244321}">
                <p14:modId xmlns:p14="http://schemas.microsoft.com/office/powerpoint/2010/main" val="2750558589"/>
              </p:ext>
            </p:extLst>
          </p:nvPr>
        </p:nvGraphicFramePr>
        <p:xfrm>
          <a:off x="609600" y="2781300"/>
          <a:ext cx="16916400" cy="4989151"/>
        </p:xfrm>
        <a:graphic>
          <a:graphicData uri="http://schemas.openxmlformats.org/drawingml/2006/table">
            <a:tbl>
              <a:tblPr/>
              <a:tblGrid>
                <a:gridCol w="5638800">
                  <a:extLst>
                    <a:ext uri="{9D8B030D-6E8A-4147-A177-3AD203B41FA5}">
                      <a16:colId xmlns:a16="http://schemas.microsoft.com/office/drawing/2014/main" val="2713066583"/>
                    </a:ext>
                  </a:extLst>
                </a:gridCol>
                <a:gridCol w="5638800">
                  <a:extLst>
                    <a:ext uri="{9D8B030D-6E8A-4147-A177-3AD203B41FA5}">
                      <a16:colId xmlns:a16="http://schemas.microsoft.com/office/drawing/2014/main" val="2315984712"/>
                    </a:ext>
                  </a:extLst>
                </a:gridCol>
                <a:gridCol w="5638800">
                  <a:extLst>
                    <a:ext uri="{9D8B030D-6E8A-4147-A177-3AD203B41FA5}">
                      <a16:colId xmlns:a16="http://schemas.microsoft.com/office/drawing/2014/main" val="3381200294"/>
                    </a:ext>
                  </a:extLst>
                </a:gridCol>
              </a:tblGrid>
              <a:tr h="1430532">
                <a:tc>
                  <a:txBody>
                    <a:bodyPr/>
                    <a:lstStyle/>
                    <a:p>
                      <a:r>
                        <a:rPr lang="en-US" sz="4000"/>
                        <a:t>Product Type</a:t>
                      </a:r>
                    </a:p>
                  </a:txBody>
                  <a:tcPr anchor="ctr">
                    <a:lnL>
                      <a:noFill/>
                    </a:lnL>
                    <a:lnR>
                      <a:noFill/>
                    </a:lnR>
                    <a:lnT>
                      <a:noFill/>
                    </a:lnT>
                    <a:lnB>
                      <a:noFill/>
                    </a:lnB>
                  </a:tcPr>
                </a:tc>
                <a:tc>
                  <a:txBody>
                    <a:bodyPr/>
                    <a:lstStyle/>
                    <a:p>
                      <a:pPr algn="r"/>
                      <a:r>
                        <a:rPr lang="en-US" sz="4000" dirty="0"/>
                        <a:t>Price per Package (RM) Basic Plan / Month</a:t>
                      </a:r>
                    </a:p>
                  </a:txBody>
                  <a:tcPr anchor="ctr">
                    <a:lnL>
                      <a:noFill/>
                    </a:lnL>
                    <a:lnR>
                      <a:noFill/>
                    </a:lnR>
                    <a:lnT>
                      <a:noFill/>
                    </a:lnT>
                    <a:lnB>
                      <a:noFill/>
                    </a:lnB>
                  </a:tcPr>
                </a:tc>
                <a:tc>
                  <a:txBody>
                    <a:bodyPr/>
                    <a:lstStyle/>
                    <a:p>
                      <a:pPr algn="r"/>
                      <a:r>
                        <a:rPr lang="en-US" sz="4000"/>
                        <a:t>Price per Package (RM) Premium Plan / Month</a:t>
                      </a:r>
                    </a:p>
                  </a:txBody>
                  <a:tcPr anchor="ctr">
                    <a:lnL>
                      <a:noFill/>
                    </a:lnL>
                    <a:lnR>
                      <a:noFill/>
                    </a:lnR>
                    <a:lnT>
                      <a:noFill/>
                    </a:lnT>
                    <a:lnB>
                      <a:noFill/>
                    </a:lnB>
                  </a:tcPr>
                </a:tc>
                <a:extLst>
                  <a:ext uri="{0D108BD9-81ED-4DB2-BD59-A6C34878D82A}">
                    <a16:rowId xmlns:a16="http://schemas.microsoft.com/office/drawing/2014/main" val="3826061303"/>
                  </a:ext>
                </a:extLst>
              </a:tr>
              <a:tr h="817447">
                <a:tc>
                  <a:txBody>
                    <a:bodyPr/>
                    <a:lstStyle/>
                    <a:p>
                      <a:r>
                        <a:rPr lang="en-US" sz="4000"/>
                        <a:t>Customer Support Chatbot</a:t>
                      </a:r>
                    </a:p>
                  </a:txBody>
                  <a:tcPr anchor="ctr">
                    <a:lnL>
                      <a:noFill/>
                    </a:lnL>
                    <a:lnR>
                      <a:noFill/>
                    </a:lnR>
                    <a:lnT>
                      <a:noFill/>
                    </a:lnT>
                    <a:lnB>
                      <a:noFill/>
                    </a:lnB>
                  </a:tcPr>
                </a:tc>
                <a:tc>
                  <a:txBody>
                    <a:bodyPr/>
                    <a:lstStyle/>
                    <a:p>
                      <a:pPr algn="r"/>
                      <a:r>
                        <a:rPr lang="en-US" sz="4000" dirty="0"/>
                        <a:t>300.00</a:t>
                      </a:r>
                    </a:p>
                  </a:txBody>
                  <a:tcPr anchor="ctr">
                    <a:lnL>
                      <a:noFill/>
                    </a:lnL>
                    <a:lnR>
                      <a:noFill/>
                    </a:lnR>
                    <a:lnT>
                      <a:noFill/>
                    </a:lnT>
                    <a:lnB>
                      <a:noFill/>
                    </a:lnB>
                  </a:tcPr>
                </a:tc>
                <a:tc>
                  <a:txBody>
                    <a:bodyPr/>
                    <a:lstStyle/>
                    <a:p>
                      <a:pPr algn="r"/>
                      <a:r>
                        <a:rPr lang="en-US" sz="4000" dirty="0"/>
                        <a:t>600.00</a:t>
                      </a:r>
                    </a:p>
                  </a:txBody>
                  <a:tcPr anchor="ctr">
                    <a:lnL>
                      <a:noFill/>
                    </a:lnL>
                    <a:lnR>
                      <a:noFill/>
                    </a:lnR>
                    <a:lnT>
                      <a:noFill/>
                    </a:lnT>
                    <a:lnB>
                      <a:noFill/>
                    </a:lnB>
                  </a:tcPr>
                </a:tc>
                <a:extLst>
                  <a:ext uri="{0D108BD9-81ED-4DB2-BD59-A6C34878D82A}">
                    <a16:rowId xmlns:a16="http://schemas.microsoft.com/office/drawing/2014/main" val="2469415012"/>
                  </a:ext>
                </a:extLst>
              </a:tr>
              <a:tr h="817447">
                <a:tc>
                  <a:txBody>
                    <a:bodyPr/>
                    <a:lstStyle/>
                    <a:p>
                      <a:r>
                        <a:rPr lang="en-US" sz="4000"/>
                        <a:t>Sales Assistant Chatbot</a:t>
                      </a:r>
                    </a:p>
                  </a:txBody>
                  <a:tcPr anchor="ctr">
                    <a:lnL>
                      <a:noFill/>
                    </a:lnL>
                    <a:lnR>
                      <a:noFill/>
                    </a:lnR>
                    <a:lnT>
                      <a:noFill/>
                    </a:lnT>
                    <a:lnB>
                      <a:noFill/>
                    </a:lnB>
                  </a:tcPr>
                </a:tc>
                <a:tc>
                  <a:txBody>
                    <a:bodyPr/>
                    <a:lstStyle/>
                    <a:p>
                      <a:pPr algn="r"/>
                      <a:r>
                        <a:rPr lang="en-US" sz="4000" dirty="0"/>
                        <a:t>350.00</a:t>
                      </a:r>
                    </a:p>
                  </a:txBody>
                  <a:tcPr anchor="ctr">
                    <a:lnL>
                      <a:noFill/>
                    </a:lnL>
                    <a:lnR>
                      <a:noFill/>
                    </a:lnR>
                    <a:lnT>
                      <a:noFill/>
                    </a:lnT>
                    <a:lnB>
                      <a:noFill/>
                    </a:lnB>
                  </a:tcPr>
                </a:tc>
                <a:tc>
                  <a:txBody>
                    <a:bodyPr/>
                    <a:lstStyle/>
                    <a:p>
                      <a:pPr algn="r"/>
                      <a:r>
                        <a:rPr lang="en-US" sz="4000"/>
                        <a:t>700.00</a:t>
                      </a:r>
                    </a:p>
                  </a:txBody>
                  <a:tcPr anchor="ctr">
                    <a:lnL>
                      <a:noFill/>
                    </a:lnL>
                    <a:lnR>
                      <a:noFill/>
                    </a:lnR>
                    <a:lnT>
                      <a:noFill/>
                    </a:lnT>
                    <a:lnB>
                      <a:noFill/>
                    </a:lnB>
                  </a:tcPr>
                </a:tc>
                <a:extLst>
                  <a:ext uri="{0D108BD9-81ED-4DB2-BD59-A6C34878D82A}">
                    <a16:rowId xmlns:a16="http://schemas.microsoft.com/office/drawing/2014/main" val="2920788300"/>
                  </a:ext>
                </a:extLst>
              </a:tr>
              <a:tr h="1430532">
                <a:tc>
                  <a:txBody>
                    <a:bodyPr/>
                    <a:lstStyle/>
                    <a:p>
                      <a:r>
                        <a:rPr lang="en-US" sz="4000"/>
                        <a:t>Custom E-commerce Chatbot</a:t>
                      </a:r>
                    </a:p>
                  </a:txBody>
                  <a:tcPr anchor="ctr">
                    <a:lnL>
                      <a:noFill/>
                    </a:lnL>
                    <a:lnR>
                      <a:noFill/>
                    </a:lnR>
                    <a:lnT>
                      <a:noFill/>
                    </a:lnT>
                    <a:lnB>
                      <a:noFill/>
                    </a:lnB>
                  </a:tcPr>
                </a:tc>
                <a:tc>
                  <a:txBody>
                    <a:bodyPr/>
                    <a:lstStyle/>
                    <a:p>
                      <a:pPr algn="r"/>
                      <a:r>
                        <a:rPr lang="en-US" sz="4000"/>
                        <a:t>600.00</a:t>
                      </a:r>
                    </a:p>
                  </a:txBody>
                  <a:tcPr anchor="ctr">
                    <a:lnL>
                      <a:noFill/>
                    </a:lnL>
                    <a:lnR>
                      <a:noFill/>
                    </a:lnR>
                    <a:lnT>
                      <a:noFill/>
                    </a:lnT>
                    <a:lnB>
                      <a:noFill/>
                    </a:lnB>
                  </a:tcPr>
                </a:tc>
                <a:tc>
                  <a:txBody>
                    <a:bodyPr/>
                    <a:lstStyle/>
                    <a:p>
                      <a:pPr algn="r"/>
                      <a:r>
                        <a:rPr lang="en-US" sz="4000" dirty="0"/>
                        <a:t>1,200.00</a:t>
                      </a:r>
                    </a:p>
                  </a:txBody>
                  <a:tcPr anchor="ctr">
                    <a:lnL>
                      <a:noFill/>
                    </a:lnL>
                    <a:lnR>
                      <a:noFill/>
                    </a:lnR>
                    <a:lnT>
                      <a:noFill/>
                    </a:lnT>
                    <a:lnB>
                      <a:noFill/>
                    </a:lnB>
                  </a:tcPr>
                </a:tc>
                <a:extLst>
                  <a:ext uri="{0D108BD9-81ED-4DB2-BD59-A6C34878D82A}">
                    <a16:rowId xmlns:a16="http://schemas.microsoft.com/office/drawing/2014/main" val="172727217"/>
                  </a:ext>
                </a:extLst>
              </a:tr>
            </a:tbl>
          </a:graphicData>
        </a:graphic>
      </p:graphicFrame>
    </p:spTree>
    <p:extLst>
      <p:ext uri="{BB962C8B-B14F-4D97-AF65-F5344CB8AC3E}">
        <p14:creationId xmlns:p14="http://schemas.microsoft.com/office/powerpoint/2010/main" val="3299514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35B1F1-B9A6-4131-9502-7A794F13D9B2}"/>
              </a:ext>
            </a:extLst>
          </p:cNvPr>
          <p:cNvSpPr txBox="1"/>
          <p:nvPr/>
        </p:nvSpPr>
        <p:spPr>
          <a:xfrm>
            <a:off x="6743700" y="571500"/>
            <a:ext cx="4800600" cy="707886"/>
          </a:xfrm>
          <a:prstGeom prst="rect">
            <a:avLst/>
          </a:prstGeom>
          <a:noFill/>
        </p:spPr>
        <p:txBody>
          <a:bodyPr wrap="square">
            <a:spAutoFit/>
          </a:bodyPr>
          <a:lstStyle/>
          <a:p>
            <a:r>
              <a:rPr lang="en-US" altLang="ka-GE" sz="4000" b="1" dirty="0">
                <a:latin typeface="Arial" panose="020B0604020202020204" pitchFamily="34" charset="0"/>
                <a:cs typeface="Arial" panose="020B0604020202020204" pitchFamily="34" charset="0"/>
              </a:rPr>
              <a:t>TARGET MARKET</a:t>
            </a:r>
            <a:endParaRPr lang="en-US" sz="4000" dirty="0"/>
          </a:p>
        </p:txBody>
      </p:sp>
      <p:sp>
        <p:nvSpPr>
          <p:cNvPr id="7" name="TextBox 6">
            <a:extLst>
              <a:ext uri="{FF2B5EF4-FFF2-40B4-BE49-F238E27FC236}">
                <a16:creationId xmlns:a16="http://schemas.microsoft.com/office/drawing/2014/main" id="{F8679060-BE88-419A-B43D-5E8291D845EA}"/>
              </a:ext>
            </a:extLst>
          </p:cNvPr>
          <p:cNvSpPr txBox="1"/>
          <p:nvPr/>
        </p:nvSpPr>
        <p:spPr>
          <a:xfrm>
            <a:off x="609600" y="3390900"/>
            <a:ext cx="12268200" cy="3970318"/>
          </a:xfrm>
          <a:prstGeom prst="rect">
            <a:avLst/>
          </a:prstGeom>
          <a:noFill/>
        </p:spPr>
        <p:txBody>
          <a:bodyPr wrap="square">
            <a:spAutoFit/>
          </a:bodyPr>
          <a:lstStyle/>
          <a:p>
            <a:r>
              <a:rPr lang="en-US" sz="3600" b="1" dirty="0"/>
              <a:t>TARGET MARKET (QUIZZLY)</a:t>
            </a:r>
          </a:p>
          <a:p>
            <a:r>
              <a:rPr lang="en-US" sz="3600" b="1" dirty="0"/>
              <a:t>🔹 E-commerce Businesses</a:t>
            </a:r>
          </a:p>
          <a:p>
            <a:r>
              <a:rPr lang="en-US" sz="3600" dirty="0"/>
              <a:t>(Online stores selling products and services)</a:t>
            </a:r>
          </a:p>
          <a:p>
            <a:r>
              <a:rPr lang="en-US" sz="3600" b="1" dirty="0"/>
              <a:t>🔹 Small &amp; Medium Enterprises (SMEs)</a:t>
            </a:r>
          </a:p>
          <a:p>
            <a:r>
              <a:rPr lang="en-US" sz="3600" dirty="0"/>
              <a:t>(Local Georgian businesses moving online)</a:t>
            </a:r>
          </a:p>
          <a:p>
            <a:r>
              <a:rPr lang="en-US" sz="3600" b="1" dirty="0"/>
              <a:t>🔹 Large Online Retailers</a:t>
            </a:r>
          </a:p>
          <a:p>
            <a:r>
              <a:rPr lang="en-US" sz="3600" dirty="0"/>
              <a:t>(High-traffic websites requiring automation and AI support)</a:t>
            </a:r>
          </a:p>
        </p:txBody>
      </p:sp>
    </p:spTree>
    <p:extLst>
      <p:ext uri="{BB962C8B-B14F-4D97-AF65-F5344CB8AC3E}">
        <p14:creationId xmlns:p14="http://schemas.microsoft.com/office/powerpoint/2010/main" val="2330535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D80D68A-83C1-439E-B0FA-67018120FDC2}"/>
              </a:ext>
            </a:extLst>
          </p:cNvPr>
          <p:cNvGraphicFramePr>
            <a:graphicFrameLocks noGrp="1"/>
          </p:cNvGraphicFramePr>
          <p:nvPr>
            <p:extLst>
              <p:ext uri="{D42A27DB-BD31-4B8C-83A1-F6EECF244321}">
                <p14:modId xmlns:p14="http://schemas.microsoft.com/office/powerpoint/2010/main" val="4260932870"/>
              </p:ext>
            </p:extLst>
          </p:nvPr>
        </p:nvGraphicFramePr>
        <p:xfrm>
          <a:off x="1143000" y="2400300"/>
          <a:ext cx="15316200" cy="6065761"/>
        </p:xfrm>
        <a:graphic>
          <a:graphicData uri="http://schemas.openxmlformats.org/drawingml/2006/table">
            <a:tbl>
              <a:tblPr/>
              <a:tblGrid>
                <a:gridCol w="5105400">
                  <a:extLst>
                    <a:ext uri="{9D8B030D-6E8A-4147-A177-3AD203B41FA5}">
                      <a16:colId xmlns:a16="http://schemas.microsoft.com/office/drawing/2014/main" val="2847814938"/>
                    </a:ext>
                  </a:extLst>
                </a:gridCol>
                <a:gridCol w="5105400">
                  <a:extLst>
                    <a:ext uri="{9D8B030D-6E8A-4147-A177-3AD203B41FA5}">
                      <a16:colId xmlns:a16="http://schemas.microsoft.com/office/drawing/2014/main" val="3925950105"/>
                    </a:ext>
                  </a:extLst>
                </a:gridCol>
                <a:gridCol w="5105400">
                  <a:extLst>
                    <a:ext uri="{9D8B030D-6E8A-4147-A177-3AD203B41FA5}">
                      <a16:colId xmlns:a16="http://schemas.microsoft.com/office/drawing/2014/main" val="102086953"/>
                    </a:ext>
                  </a:extLst>
                </a:gridCol>
              </a:tblGrid>
              <a:tr h="1161658">
                <a:tc>
                  <a:txBody>
                    <a:bodyPr/>
                    <a:lstStyle/>
                    <a:p>
                      <a:r>
                        <a:rPr lang="en-US" sz="3200"/>
                        <a:t>TARGET MARKET</a:t>
                      </a:r>
                    </a:p>
                  </a:txBody>
                  <a:tcPr anchor="ctr">
                    <a:lnL>
                      <a:noFill/>
                    </a:lnL>
                    <a:lnR>
                      <a:noFill/>
                    </a:lnR>
                    <a:lnT>
                      <a:noFill/>
                    </a:lnT>
                    <a:lnB>
                      <a:noFill/>
                    </a:lnB>
                  </a:tcPr>
                </a:tc>
                <a:tc>
                  <a:txBody>
                    <a:bodyPr/>
                    <a:lstStyle/>
                    <a:p>
                      <a:r>
                        <a:rPr lang="en-US" sz="3200"/>
                        <a:t>NUMBER OF TARGET MARKET (MONTHLY)</a:t>
                      </a:r>
                    </a:p>
                  </a:txBody>
                  <a:tcPr anchor="ctr">
                    <a:lnL>
                      <a:noFill/>
                    </a:lnL>
                    <a:lnR>
                      <a:noFill/>
                    </a:lnR>
                    <a:lnT>
                      <a:noFill/>
                    </a:lnT>
                    <a:lnB>
                      <a:noFill/>
                    </a:lnB>
                  </a:tcPr>
                </a:tc>
                <a:tc>
                  <a:txBody>
                    <a:bodyPr/>
                    <a:lstStyle/>
                    <a:p>
                      <a:r>
                        <a:rPr lang="en-US" sz="3200"/>
                        <a:t>MARKET SIZE (GEL)</a:t>
                      </a:r>
                    </a:p>
                  </a:txBody>
                  <a:tcPr anchor="ctr">
                    <a:lnL>
                      <a:noFill/>
                    </a:lnL>
                    <a:lnR>
                      <a:noFill/>
                    </a:lnR>
                    <a:lnT>
                      <a:noFill/>
                    </a:lnT>
                    <a:lnB>
                      <a:noFill/>
                    </a:lnB>
                  </a:tcPr>
                </a:tc>
                <a:extLst>
                  <a:ext uri="{0D108BD9-81ED-4DB2-BD59-A6C34878D82A}">
                    <a16:rowId xmlns:a16="http://schemas.microsoft.com/office/drawing/2014/main" val="651078520"/>
                  </a:ext>
                </a:extLst>
              </a:tr>
              <a:tr h="1161658">
                <a:tc>
                  <a:txBody>
                    <a:bodyPr/>
                    <a:lstStyle/>
                    <a:p>
                      <a:r>
                        <a:rPr lang="en-US" sz="3200"/>
                        <a:t>Small &amp; Medium E-commerce Businesses</a:t>
                      </a:r>
                    </a:p>
                  </a:txBody>
                  <a:tcPr anchor="ctr">
                    <a:lnL>
                      <a:noFill/>
                    </a:lnL>
                    <a:lnR>
                      <a:noFill/>
                    </a:lnR>
                    <a:lnT>
                      <a:noFill/>
                    </a:lnT>
                    <a:lnB>
                      <a:noFill/>
                    </a:lnB>
                  </a:tcPr>
                </a:tc>
                <a:tc>
                  <a:txBody>
                    <a:bodyPr/>
                    <a:lstStyle/>
                    <a:p>
                      <a:r>
                        <a:rPr lang="en-US" sz="3200"/>
                        <a:t>35%</a:t>
                      </a:r>
                    </a:p>
                  </a:txBody>
                  <a:tcPr anchor="ctr">
                    <a:lnL>
                      <a:noFill/>
                    </a:lnL>
                    <a:lnR>
                      <a:noFill/>
                    </a:lnR>
                    <a:lnT>
                      <a:noFill/>
                    </a:lnT>
                    <a:lnB>
                      <a:noFill/>
                    </a:lnB>
                  </a:tcPr>
                </a:tc>
                <a:tc>
                  <a:txBody>
                    <a:bodyPr/>
                    <a:lstStyle/>
                    <a:p>
                      <a:r>
                        <a:rPr lang="en-US" sz="3200"/>
                        <a:t>210,000</a:t>
                      </a:r>
                    </a:p>
                  </a:txBody>
                  <a:tcPr anchor="ctr">
                    <a:lnL>
                      <a:noFill/>
                    </a:lnL>
                    <a:lnR>
                      <a:noFill/>
                    </a:lnR>
                    <a:lnT>
                      <a:noFill/>
                    </a:lnT>
                    <a:lnB>
                      <a:noFill/>
                    </a:lnB>
                  </a:tcPr>
                </a:tc>
                <a:extLst>
                  <a:ext uri="{0D108BD9-81ED-4DB2-BD59-A6C34878D82A}">
                    <a16:rowId xmlns:a16="http://schemas.microsoft.com/office/drawing/2014/main" val="1390492114"/>
                  </a:ext>
                </a:extLst>
              </a:tr>
              <a:tr h="755324">
                <a:tc>
                  <a:txBody>
                    <a:bodyPr/>
                    <a:lstStyle/>
                    <a:p>
                      <a:r>
                        <a:rPr lang="en-US" sz="3200"/>
                        <a:t>Large Online Retailers</a:t>
                      </a:r>
                    </a:p>
                  </a:txBody>
                  <a:tcPr anchor="ctr">
                    <a:lnL>
                      <a:noFill/>
                    </a:lnL>
                    <a:lnR>
                      <a:noFill/>
                    </a:lnR>
                    <a:lnT>
                      <a:noFill/>
                    </a:lnT>
                    <a:lnB>
                      <a:noFill/>
                    </a:lnB>
                  </a:tcPr>
                </a:tc>
                <a:tc>
                  <a:txBody>
                    <a:bodyPr/>
                    <a:lstStyle/>
                    <a:p>
                      <a:r>
                        <a:rPr lang="en-US" sz="3200"/>
                        <a:t>25%</a:t>
                      </a:r>
                    </a:p>
                  </a:txBody>
                  <a:tcPr anchor="ctr">
                    <a:lnL>
                      <a:noFill/>
                    </a:lnL>
                    <a:lnR>
                      <a:noFill/>
                    </a:lnR>
                    <a:lnT>
                      <a:noFill/>
                    </a:lnT>
                    <a:lnB>
                      <a:noFill/>
                    </a:lnB>
                  </a:tcPr>
                </a:tc>
                <a:tc>
                  <a:txBody>
                    <a:bodyPr/>
                    <a:lstStyle/>
                    <a:p>
                      <a:r>
                        <a:rPr lang="en-US" sz="3200"/>
                        <a:t>180,000</a:t>
                      </a:r>
                    </a:p>
                  </a:txBody>
                  <a:tcPr anchor="ctr">
                    <a:lnL>
                      <a:noFill/>
                    </a:lnL>
                    <a:lnR>
                      <a:noFill/>
                    </a:lnR>
                    <a:lnT>
                      <a:noFill/>
                    </a:lnT>
                    <a:lnB>
                      <a:noFill/>
                    </a:lnB>
                  </a:tcPr>
                </a:tc>
                <a:extLst>
                  <a:ext uri="{0D108BD9-81ED-4DB2-BD59-A6C34878D82A}">
                    <a16:rowId xmlns:a16="http://schemas.microsoft.com/office/drawing/2014/main" val="2719990807"/>
                  </a:ext>
                </a:extLst>
              </a:tr>
              <a:tr h="1161658">
                <a:tc>
                  <a:txBody>
                    <a:bodyPr/>
                    <a:lstStyle/>
                    <a:p>
                      <a:r>
                        <a:rPr lang="en-US" sz="3200"/>
                        <a:t>Service-based Websites (banks, telecom, utilities)</a:t>
                      </a:r>
                    </a:p>
                  </a:txBody>
                  <a:tcPr anchor="ctr">
                    <a:lnL>
                      <a:noFill/>
                    </a:lnL>
                    <a:lnR>
                      <a:noFill/>
                    </a:lnR>
                    <a:lnT>
                      <a:noFill/>
                    </a:lnT>
                    <a:lnB>
                      <a:noFill/>
                    </a:lnB>
                  </a:tcPr>
                </a:tc>
                <a:tc>
                  <a:txBody>
                    <a:bodyPr/>
                    <a:lstStyle/>
                    <a:p>
                      <a:r>
                        <a:rPr lang="en-US" sz="3200"/>
                        <a:t>20%</a:t>
                      </a:r>
                    </a:p>
                  </a:txBody>
                  <a:tcPr anchor="ctr">
                    <a:lnL>
                      <a:noFill/>
                    </a:lnL>
                    <a:lnR>
                      <a:noFill/>
                    </a:lnR>
                    <a:lnT>
                      <a:noFill/>
                    </a:lnT>
                    <a:lnB>
                      <a:noFill/>
                    </a:lnB>
                  </a:tcPr>
                </a:tc>
                <a:tc>
                  <a:txBody>
                    <a:bodyPr/>
                    <a:lstStyle/>
                    <a:p>
                      <a:r>
                        <a:rPr lang="en-US" sz="3200"/>
                        <a:t>120,000</a:t>
                      </a:r>
                    </a:p>
                  </a:txBody>
                  <a:tcPr anchor="ctr">
                    <a:lnL>
                      <a:noFill/>
                    </a:lnL>
                    <a:lnR>
                      <a:noFill/>
                    </a:lnR>
                    <a:lnT>
                      <a:noFill/>
                    </a:lnT>
                    <a:lnB>
                      <a:noFill/>
                    </a:lnB>
                  </a:tcPr>
                </a:tc>
                <a:extLst>
                  <a:ext uri="{0D108BD9-81ED-4DB2-BD59-A6C34878D82A}">
                    <a16:rowId xmlns:a16="http://schemas.microsoft.com/office/drawing/2014/main" val="3704134292"/>
                  </a:ext>
                </a:extLst>
              </a:tr>
              <a:tr h="1161658">
                <a:tc>
                  <a:txBody>
                    <a:bodyPr/>
                    <a:lstStyle/>
                    <a:p>
                      <a:r>
                        <a:rPr lang="en-US" sz="3200"/>
                        <a:t>Startups &amp; New Online Stores</a:t>
                      </a:r>
                    </a:p>
                  </a:txBody>
                  <a:tcPr anchor="ctr">
                    <a:lnL>
                      <a:noFill/>
                    </a:lnL>
                    <a:lnR>
                      <a:noFill/>
                    </a:lnR>
                    <a:lnT>
                      <a:noFill/>
                    </a:lnT>
                    <a:lnB>
                      <a:noFill/>
                    </a:lnB>
                  </a:tcPr>
                </a:tc>
                <a:tc>
                  <a:txBody>
                    <a:bodyPr/>
                    <a:lstStyle/>
                    <a:p>
                      <a:r>
                        <a:rPr lang="en-US" sz="3200"/>
                        <a:t>20%</a:t>
                      </a:r>
                    </a:p>
                  </a:txBody>
                  <a:tcPr anchor="ctr">
                    <a:lnL>
                      <a:noFill/>
                    </a:lnL>
                    <a:lnR>
                      <a:noFill/>
                    </a:lnR>
                    <a:lnT>
                      <a:noFill/>
                    </a:lnT>
                    <a:lnB>
                      <a:noFill/>
                    </a:lnB>
                  </a:tcPr>
                </a:tc>
                <a:tc>
                  <a:txBody>
                    <a:bodyPr/>
                    <a:lstStyle/>
                    <a:p>
                      <a:r>
                        <a:rPr lang="en-US" sz="3200" dirty="0"/>
                        <a:t>120,000</a:t>
                      </a:r>
                    </a:p>
                  </a:txBody>
                  <a:tcPr anchor="ctr">
                    <a:lnL>
                      <a:noFill/>
                    </a:lnL>
                    <a:lnR>
                      <a:noFill/>
                    </a:lnR>
                    <a:lnT>
                      <a:noFill/>
                    </a:lnT>
                    <a:lnB>
                      <a:noFill/>
                    </a:lnB>
                  </a:tcPr>
                </a:tc>
                <a:extLst>
                  <a:ext uri="{0D108BD9-81ED-4DB2-BD59-A6C34878D82A}">
                    <a16:rowId xmlns:a16="http://schemas.microsoft.com/office/drawing/2014/main" val="1629529872"/>
                  </a:ext>
                </a:extLst>
              </a:tr>
              <a:tr h="663805">
                <a:tc>
                  <a:txBody>
                    <a:bodyPr/>
                    <a:lstStyle/>
                    <a:p>
                      <a:r>
                        <a:rPr lang="en-US" sz="3200" b="1"/>
                        <a:t>Total</a:t>
                      </a:r>
                      <a:endParaRPr lang="en-US" sz="3200"/>
                    </a:p>
                  </a:txBody>
                  <a:tcPr anchor="ctr">
                    <a:lnL>
                      <a:noFill/>
                    </a:lnL>
                    <a:lnR>
                      <a:noFill/>
                    </a:lnR>
                    <a:lnT>
                      <a:noFill/>
                    </a:lnT>
                    <a:lnB>
                      <a:noFill/>
                    </a:lnB>
                  </a:tcPr>
                </a:tc>
                <a:tc>
                  <a:txBody>
                    <a:bodyPr/>
                    <a:lstStyle/>
                    <a:p>
                      <a:r>
                        <a:rPr lang="en-US" sz="3200" b="1"/>
                        <a:t>100%</a:t>
                      </a:r>
                      <a:endParaRPr lang="en-US" sz="3200"/>
                    </a:p>
                  </a:txBody>
                  <a:tcPr anchor="ctr">
                    <a:lnL>
                      <a:noFill/>
                    </a:lnL>
                    <a:lnR>
                      <a:noFill/>
                    </a:lnR>
                    <a:lnT>
                      <a:noFill/>
                    </a:lnT>
                    <a:lnB>
                      <a:noFill/>
                    </a:lnB>
                  </a:tcPr>
                </a:tc>
                <a:tc>
                  <a:txBody>
                    <a:bodyPr/>
                    <a:lstStyle/>
                    <a:p>
                      <a:r>
                        <a:rPr lang="en-US" sz="3200" b="1" dirty="0"/>
                        <a:t>630,000</a:t>
                      </a:r>
                      <a:endParaRPr lang="en-US" sz="3200" dirty="0"/>
                    </a:p>
                  </a:txBody>
                  <a:tcPr anchor="ctr">
                    <a:lnL>
                      <a:noFill/>
                    </a:lnL>
                    <a:lnR>
                      <a:noFill/>
                    </a:lnR>
                    <a:lnT>
                      <a:noFill/>
                    </a:lnT>
                    <a:lnB>
                      <a:noFill/>
                    </a:lnB>
                  </a:tcPr>
                </a:tc>
                <a:extLst>
                  <a:ext uri="{0D108BD9-81ED-4DB2-BD59-A6C34878D82A}">
                    <a16:rowId xmlns:a16="http://schemas.microsoft.com/office/drawing/2014/main" val="2655737942"/>
                  </a:ext>
                </a:extLst>
              </a:tr>
            </a:tbl>
          </a:graphicData>
        </a:graphic>
      </p:graphicFrame>
      <p:sp>
        <p:nvSpPr>
          <p:cNvPr id="4" name="Title 1">
            <a:extLst>
              <a:ext uri="{FF2B5EF4-FFF2-40B4-BE49-F238E27FC236}">
                <a16:creationId xmlns:a16="http://schemas.microsoft.com/office/drawing/2014/main" id="{C04F8D9F-20F8-42BE-9E25-D00FF482CD13}"/>
              </a:ext>
            </a:extLst>
          </p:cNvPr>
          <p:cNvSpPr txBox="1">
            <a:spLocks noChangeArrowheads="1"/>
          </p:cNvSpPr>
          <p:nvPr/>
        </p:nvSpPr>
        <p:spPr>
          <a:xfrm>
            <a:off x="685800" y="571500"/>
            <a:ext cx="41148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a-GE" sz="3600" b="1">
                <a:latin typeface="Arial" panose="020B0604020202020204" pitchFamily="34" charset="0"/>
                <a:cs typeface="Arial" panose="020B0604020202020204" pitchFamily="34" charset="0"/>
              </a:rPr>
              <a:t>MARKET SIZE</a:t>
            </a:r>
            <a:endParaRPr lang="en-US" altLang="ka-GE"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6328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48CD"/>
        </a:solidFill>
        <a:effectLst/>
      </p:bgPr>
    </p:bg>
    <p:spTree>
      <p:nvGrpSpPr>
        <p:cNvPr id="1" name=""/>
        <p:cNvGrpSpPr/>
        <p:nvPr/>
      </p:nvGrpSpPr>
      <p:grpSpPr>
        <a:xfrm>
          <a:off x="0" y="0"/>
          <a:ext cx="0" cy="0"/>
          <a:chOff x="0" y="0"/>
          <a:chExt cx="0" cy="0"/>
        </a:xfrm>
      </p:grpSpPr>
      <p:grpSp>
        <p:nvGrpSpPr>
          <p:cNvPr id="2" name="Group 2"/>
          <p:cNvGrpSpPr/>
          <p:nvPr/>
        </p:nvGrpSpPr>
        <p:grpSpPr>
          <a:xfrm>
            <a:off x="332790" y="369529"/>
            <a:ext cx="8649688" cy="4592083"/>
            <a:chOff x="0" y="0"/>
            <a:chExt cx="11532917" cy="6122777"/>
          </a:xfrm>
        </p:grpSpPr>
        <p:grpSp>
          <p:nvGrpSpPr>
            <p:cNvPr id="3" name="Group 3"/>
            <p:cNvGrpSpPr/>
            <p:nvPr/>
          </p:nvGrpSpPr>
          <p:grpSpPr>
            <a:xfrm>
              <a:off x="0" y="0"/>
              <a:ext cx="11532917" cy="4788047"/>
              <a:chOff x="0" y="0"/>
              <a:chExt cx="3576153" cy="1484689"/>
            </a:xfrm>
          </p:grpSpPr>
          <p:sp>
            <p:nvSpPr>
              <p:cNvPr id="4" name="Freeform 4"/>
              <p:cNvSpPr/>
              <p:nvPr/>
            </p:nvSpPr>
            <p:spPr>
              <a:xfrm>
                <a:off x="0" y="0"/>
                <a:ext cx="3576153" cy="1484689"/>
              </a:xfrm>
              <a:custGeom>
                <a:avLst/>
                <a:gdLst/>
                <a:ahLst/>
                <a:cxnLst/>
                <a:rect l="l" t="t" r="r" b="b"/>
                <a:pathLst>
                  <a:path w="3576153" h="1484689">
                    <a:moveTo>
                      <a:pt x="3451693" y="1484689"/>
                    </a:moveTo>
                    <a:lnTo>
                      <a:pt x="124460" y="1484689"/>
                    </a:lnTo>
                    <a:cubicBezTo>
                      <a:pt x="55880" y="1484689"/>
                      <a:pt x="0" y="1428809"/>
                      <a:pt x="0" y="1360229"/>
                    </a:cubicBezTo>
                    <a:lnTo>
                      <a:pt x="0" y="124460"/>
                    </a:lnTo>
                    <a:cubicBezTo>
                      <a:pt x="0" y="55880"/>
                      <a:pt x="55880" y="0"/>
                      <a:pt x="124460" y="0"/>
                    </a:cubicBezTo>
                    <a:lnTo>
                      <a:pt x="3451694" y="0"/>
                    </a:lnTo>
                    <a:cubicBezTo>
                      <a:pt x="3520273" y="0"/>
                      <a:pt x="3576153" y="55880"/>
                      <a:pt x="3576153" y="124460"/>
                    </a:cubicBezTo>
                    <a:lnTo>
                      <a:pt x="3576153" y="1360229"/>
                    </a:lnTo>
                    <a:cubicBezTo>
                      <a:pt x="3576153" y="1428809"/>
                      <a:pt x="3520273" y="1484689"/>
                      <a:pt x="3451694" y="1484689"/>
                    </a:cubicBezTo>
                    <a:close/>
                  </a:path>
                </a:pathLst>
              </a:custGeom>
              <a:solidFill>
                <a:srgbClr val="75C7FB"/>
              </a:solidFill>
            </p:spPr>
          </p:sp>
        </p:grpSp>
        <p:grpSp>
          <p:nvGrpSpPr>
            <p:cNvPr id="5" name="Group 5"/>
            <p:cNvGrpSpPr/>
            <p:nvPr/>
          </p:nvGrpSpPr>
          <p:grpSpPr>
            <a:xfrm>
              <a:off x="0" y="1455666"/>
              <a:ext cx="11532917" cy="4667111"/>
              <a:chOff x="0" y="0"/>
              <a:chExt cx="3576153" cy="1447189"/>
            </a:xfrm>
          </p:grpSpPr>
          <p:sp>
            <p:nvSpPr>
              <p:cNvPr id="6" name="Freeform 6"/>
              <p:cNvSpPr/>
              <p:nvPr/>
            </p:nvSpPr>
            <p:spPr>
              <a:xfrm>
                <a:off x="0" y="0"/>
                <a:ext cx="3576153" cy="1447189"/>
              </a:xfrm>
              <a:custGeom>
                <a:avLst/>
                <a:gdLst/>
                <a:ahLst/>
                <a:cxnLst/>
                <a:rect l="l" t="t" r="r" b="b"/>
                <a:pathLst>
                  <a:path w="3576153" h="1447189">
                    <a:moveTo>
                      <a:pt x="3451693" y="1447189"/>
                    </a:moveTo>
                    <a:lnTo>
                      <a:pt x="124460" y="1447189"/>
                    </a:lnTo>
                    <a:cubicBezTo>
                      <a:pt x="55880" y="1447189"/>
                      <a:pt x="0" y="1391309"/>
                      <a:pt x="0" y="1322729"/>
                    </a:cubicBezTo>
                    <a:lnTo>
                      <a:pt x="0" y="124460"/>
                    </a:lnTo>
                    <a:cubicBezTo>
                      <a:pt x="0" y="55880"/>
                      <a:pt x="55880" y="0"/>
                      <a:pt x="124460" y="0"/>
                    </a:cubicBezTo>
                    <a:lnTo>
                      <a:pt x="3451694" y="0"/>
                    </a:lnTo>
                    <a:cubicBezTo>
                      <a:pt x="3520273" y="0"/>
                      <a:pt x="3576153" y="55880"/>
                      <a:pt x="3576153" y="124460"/>
                    </a:cubicBezTo>
                    <a:lnTo>
                      <a:pt x="3576153" y="1322729"/>
                    </a:lnTo>
                    <a:cubicBezTo>
                      <a:pt x="3576153" y="1391309"/>
                      <a:pt x="3520273" y="1447189"/>
                      <a:pt x="3451694" y="1447189"/>
                    </a:cubicBezTo>
                    <a:close/>
                  </a:path>
                </a:pathLst>
              </a:custGeom>
              <a:solidFill>
                <a:srgbClr val="FFFFFF"/>
              </a:solidFill>
            </p:spPr>
          </p:sp>
        </p:grpSp>
      </p:grpSp>
      <p:sp>
        <p:nvSpPr>
          <p:cNvPr id="7" name="TextBox 7"/>
          <p:cNvSpPr txBox="1"/>
          <p:nvPr/>
        </p:nvSpPr>
        <p:spPr>
          <a:xfrm>
            <a:off x="722719" y="551564"/>
            <a:ext cx="6791202" cy="614239"/>
          </a:xfrm>
          <a:prstGeom prst="rect">
            <a:avLst/>
          </a:prstGeom>
        </p:spPr>
        <p:txBody>
          <a:bodyPr lIns="0" tIns="0" rIns="0" bIns="0" rtlCol="0" anchor="t">
            <a:spAutoFit/>
          </a:bodyPr>
          <a:lstStyle/>
          <a:p>
            <a:pPr algn="l">
              <a:lnSpc>
                <a:spcPts val="5040"/>
              </a:lnSpc>
              <a:spcBef>
                <a:spcPct val="0"/>
              </a:spcBef>
            </a:pPr>
            <a:r>
              <a:rPr lang="en-US" sz="3600" b="1">
                <a:solidFill>
                  <a:srgbClr val="FFFFFF"/>
                </a:solidFill>
                <a:latin typeface="Inknut Antiqua Medium"/>
                <a:ea typeface="Inknut Antiqua Medium"/>
                <a:cs typeface="Inknut Antiqua Medium"/>
                <a:sym typeface="Inknut Antiqua Medium"/>
              </a:rPr>
              <a:t>Product</a:t>
            </a:r>
          </a:p>
        </p:txBody>
      </p:sp>
      <p:sp>
        <p:nvSpPr>
          <p:cNvPr id="8" name="TextBox 8"/>
          <p:cNvSpPr txBox="1"/>
          <p:nvPr/>
        </p:nvSpPr>
        <p:spPr>
          <a:xfrm>
            <a:off x="722720" y="1875116"/>
            <a:ext cx="7779608" cy="2154436"/>
          </a:xfrm>
          <a:prstGeom prst="rect">
            <a:avLst/>
          </a:prstGeom>
        </p:spPr>
        <p:txBody>
          <a:bodyPr wrap="square" lIns="0" tIns="0" rIns="0" bIns="0" rtlCol="0" anchor="t">
            <a:spAutoFit/>
          </a:bodyPr>
          <a:lstStyle/>
          <a:p>
            <a:pPr>
              <a:buFont typeface="Arial" panose="020B0604020202020204" pitchFamily="34" charset="0"/>
              <a:buChar char="•"/>
            </a:pPr>
            <a:r>
              <a:rPr lang="en-US" sz="2000" dirty="0"/>
              <a:t>AI-powered chatbot solutions for e-commerce websites</a:t>
            </a:r>
          </a:p>
          <a:p>
            <a:pPr>
              <a:buFont typeface="Arial" panose="020B0604020202020204" pitchFamily="34" charset="0"/>
              <a:buChar char="•"/>
            </a:pPr>
            <a:r>
              <a:rPr lang="en-US" sz="2000" dirty="0"/>
              <a:t>24/7 customer support automation</a:t>
            </a:r>
          </a:p>
          <a:p>
            <a:pPr>
              <a:buFont typeface="Arial" panose="020B0604020202020204" pitchFamily="34" charset="0"/>
              <a:buChar char="•"/>
            </a:pPr>
            <a:r>
              <a:rPr lang="en-US" sz="2000" dirty="0"/>
              <a:t>Product recommendation and upselling chatbot</a:t>
            </a:r>
          </a:p>
          <a:p>
            <a:pPr>
              <a:buFont typeface="Arial" panose="020B0604020202020204" pitchFamily="34" charset="0"/>
              <a:buChar char="•"/>
            </a:pPr>
            <a:r>
              <a:rPr lang="en-US" sz="2000" dirty="0"/>
              <a:t>Integration with e-commerce platforms (custom websites, CMS, CRM)</a:t>
            </a:r>
          </a:p>
          <a:p>
            <a:pPr>
              <a:buFont typeface="Arial" panose="020B0604020202020204" pitchFamily="34" charset="0"/>
              <a:buChar char="•"/>
            </a:pPr>
            <a:r>
              <a:rPr lang="en-US" sz="2000" dirty="0"/>
              <a:t>Multilingual chatbot (Georgian &amp; English)</a:t>
            </a:r>
          </a:p>
          <a:p>
            <a:pPr>
              <a:buFont typeface="Arial" panose="020B0604020202020204" pitchFamily="34" charset="0"/>
              <a:buChar char="•"/>
            </a:pPr>
            <a:r>
              <a:rPr lang="en-US" sz="2000" dirty="0"/>
              <a:t>Analytics dashboard (customer behavior, conversion rate, FAQs)</a:t>
            </a:r>
          </a:p>
          <a:p>
            <a:pPr>
              <a:buFont typeface="Arial" panose="020B0604020202020204" pitchFamily="34" charset="0"/>
              <a:buChar char="•"/>
            </a:pPr>
            <a:r>
              <a:rPr lang="en-US" sz="2000" dirty="0"/>
              <a:t>Custom chatbot training based on company products and policies</a:t>
            </a:r>
          </a:p>
        </p:txBody>
      </p:sp>
      <p:grpSp>
        <p:nvGrpSpPr>
          <p:cNvPr id="10" name="Group 10"/>
          <p:cNvGrpSpPr/>
          <p:nvPr/>
        </p:nvGrpSpPr>
        <p:grpSpPr>
          <a:xfrm>
            <a:off x="287681" y="5325388"/>
            <a:ext cx="8694797" cy="4592083"/>
            <a:chOff x="-60145" y="0"/>
            <a:chExt cx="11593062" cy="6122777"/>
          </a:xfrm>
        </p:grpSpPr>
        <p:grpSp>
          <p:nvGrpSpPr>
            <p:cNvPr id="11" name="Group 11"/>
            <p:cNvGrpSpPr/>
            <p:nvPr/>
          </p:nvGrpSpPr>
          <p:grpSpPr>
            <a:xfrm>
              <a:off x="0" y="0"/>
              <a:ext cx="11532917" cy="4788047"/>
              <a:chOff x="0" y="0"/>
              <a:chExt cx="3576153" cy="1484689"/>
            </a:xfrm>
          </p:grpSpPr>
          <p:sp>
            <p:nvSpPr>
              <p:cNvPr id="12" name="Freeform 12"/>
              <p:cNvSpPr/>
              <p:nvPr/>
            </p:nvSpPr>
            <p:spPr>
              <a:xfrm>
                <a:off x="0" y="0"/>
                <a:ext cx="3576153" cy="1484689"/>
              </a:xfrm>
              <a:custGeom>
                <a:avLst/>
                <a:gdLst/>
                <a:ahLst/>
                <a:cxnLst/>
                <a:rect l="l" t="t" r="r" b="b"/>
                <a:pathLst>
                  <a:path w="3576153" h="1484689">
                    <a:moveTo>
                      <a:pt x="3451693" y="1484689"/>
                    </a:moveTo>
                    <a:lnTo>
                      <a:pt x="124460" y="1484689"/>
                    </a:lnTo>
                    <a:cubicBezTo>
                      <a:pt x="55880" y="1484689"/>
                      <a:pt x="0" y="1428809"/>
                      <a:pt x="0" y="1360229"/>
                    </a:cubicBezTo>
                    <a:lnTo>
                      <a:pt x="0" y="124460"/>
                    </a:lnTo>
                    <a:cubicBezTo>
                      <a:pt x="0" y="55880"/>
                      <a:pt x="55880" y="0"/>
                      <a:pt x="124460" y="0"/>
                    </a:cubicBezTo>
                    <a:lnTo>
                      <a:pt x="3451694" y="0"/>
                    </a:lnTo>
                    <a:cubicBezTo>
                      <a:pt x="3520273" y="0"/>
                      <a:pt x="3576153" y="55880"/>
                      <a:pt x="3576153" y="124460"/>
                    </a:cubicBezTo>
                    <a:lnTo>
                      <a:pt x="3576153" y="1360229"/>
                    </a:lnTo>
                    <a:cubicBezTo>
                      <a:pt x="3576153" y="1428809"/>
                      <a:pt x="3520273" y="1484689"/>
                      <a:pt x="3451694" y="1484689"/>
                    </a:cubicBezTo>
                    <a:close/>
                  </a:path>
                </a:pathLst>
              </a:custGeom>
              <a:solidFill>
                <a:srgbClr val="75C7FB"/>
              </a:solidFill>
            </p:spPr>
          </p:sp>
        </p:grpSp>
        <p:grpSp>
          <p:nvGrpSpPr>
            <p:cNvPr id="13" name="Group 13"/>
            <p:cNvGrpSpPr/>
            <p:nvPr/>
          </p:nvGrpSpPr>
          <p:grpSpPr>
            <a:xfrm>
              <a:off x="-60145" y="1455666"/>
              <a:ext cx="11532917" cy="4667111"/>
              <a:chOff x="-18650" y="0"/>
              <a:chExt cx="3576153" cy="1447189"/>
            </a:xfrm>
          </p:grpSpPr>
          <p:sp>
            <p:nvSpPr>
              <p:cNvPr id="14" name="Freeform 14"/>
              <p:cNvSpPr/>
              <p:nvPr/>
            </p:nvSpPr>
            <p:spPr>
              <a:xfrm>
                <a:off x="-18650" y="0"/>
                <a:ext cx="3576153" cy="1447189"/>
              </a:xfrm>
              <a:custGeom>
                <a:avLst/>
                <a:gdLst/>
                <a:ahLst/>
                <a:cxnLst/>
                <a:rect l="l" t="t" r="r" b="b"/>
                <a:pathLst>
                  <a:path w="3576153" h="1447189">
                    <a:moveTo>
                      <a:pt x="3451693" y="1447189"/>
                    </a:moveTo>
                    <a:lnTo>
                      <a:pt x="124460" y="1447189"/>
                    </a:lnTo>
                    <a:cubicBezTo>
                      <a:pt x="55880" y="1447189"/>
                      <a:pt x="0" y="1391309"/>
                      <a:pt x="0" y="1322729"/>
                    </a:cubicBezTo>
                    <a:lnTo>
                      <a:pt x="0" y="124460"/>
                    </a:lnTo>
                    <a:cubicBezTo>
                      <a:pt x="0" y="55880"/>
                      <a:pt x="55880" y="0"/>
                      <a:pt x="124460" y="0"/>
                    </a:cubicBezTo>
                    <a:lnTo>
                      <a:pt x="3451694" y="0"/>
                    </a:lnTo>
                    <a:cubicBezTo>
                      <a:pt x="3520273" y="0"/>
                      <a:pt x="3576153" y="55880"/>
                      <a:pt x="3576153" y="124460"/>
                    </a:cubicBezTo>
                    <a:lnTo>
                      <a:pt x="3576153" y="1322729"/>
                    </a:lnTo>
                    <a:cubicBezTo>
                      <a:pt x="3576153" y="1391309"/>
                      <a:pt x="3520273" y="1447189"/>
                      <a:pt x="3451694" y="1447189"/>
                    </a:cubicBezTo>
                    <a:close/>
                  </a:path>
                </a:pathLst>
              </a:custGeom>
              <a:solidFill>
                <a:srgbClr val="FFFFFF"/>
              </a:solidFill>
            </p:spPr>
          </p:sp>
        </p:grpSp>
      </p:grpSp>
      <p:sp>
        <p:nvSpPr>
          <p:cNvPr id="15" name="TextBox 15"/>
          <p:cNvSpPr txBox="1"/>
          <p:nvPr/>
        </p:nvSpPr>
        <p:spPr>
          <a:xfrm>
            <a:off x="722719" y="5532372"/>
            <a:ext cx="6791202" cy="614239"/>
          </a:xfrm>
          <a:prstGeom prst="rect">
            <a:avLst/>
          </a:prstGeom>
        </p:spPr>
        <p:txBody>
          <a:bodyPr lIns="0" tIns="0" rIns="0" bIns="0" rtlCol="0" anchor="t">
            <a:spAutoFit/>
          </a:bodyPr>
          <a:lstStyle/>
          <a:p>
            <a:pPr algn="l">
              <a:lnSpc>
                <a:spcPts val="5040"/>
              </a:lnSpc>
              <a:spcBef>
                <a:spcPct val="0"/>
              </a:spcBef>
            </a:pPr>
            <a:r>
              <a:rPr lang="en-US" sz="3600" b="1">
                <a:solidFill>
                  <a:srgbClr val="FFFFFF"/>
                </a:solidFill>
                <a:latin typeface="Inknut Antiqua Medium"/>
                <a:ea typeface="Inknut Antiqua Medium"/>
                <a:cs typeface="Inknut Antiqua Medium"/>
                <a:sym typeface="Inknut Antiqua Medium"/>
              </a:rPr>
              <a:t>Promotion</a:t>
            </a:r>
          </a:p>
        </p:txBody>
      </p:sp>
      <p:grpSp>
        <p:nvGrpSpPr>
          <p:cNvPr id="16" name="Group 16"/>
          <p:cNvGrpSpPr/>
          <p:nvPr/>
        </p:nvGrpSpPr>
        <p:grpSpPr>
          <a:xfrm>
            <a:off x="9305522" y="369529"/>
            <a:ext cx="8649688" cy="4592083"/>
            <a:chOff x="0" y="0"/>
            <a:chExt cx="11532917" cy="6122777"/>
          </a:xfrm>
        </p:grpSpPr>
        <p:grpSp>
          <p:nvGrpSpPr>
            <p:cNvPr id="17" name="Group 17"/>
            <p:cNvGrpSpPr/>
            <p:nvPr/>
          </p:nvGrpSpPr>
          <p:grpSpPr>
            <a:xfrm>
              <a:off x="0" y="0"/>
              <a:ext cx="11532917" cy="4788047"/>
              <a:chOff x="0" y="0"/>
              <a:chExt cx="3576153" cy="1484689"/>
            </a:xfrm>
          </p:grpSpPr>
          <p:sp>
            <p:nvSpPr>
              <p:cNvPr id="18" name="Freeform 18"/>
              <p:cNvSpPr/>
              <p:nvPr/>
            </p:nvSpPr>
            <p:spPr>
              <a:xfrm>
                <a:off x="0" y="0"/>
                <a:ext cx="3576153" cy="1484689"/>
              </a:xfrm>
              <a:custGeom>
                <a:avLst/>
                <a:gdLst/>
                <a:ahLst/>
                <a:cxnLst/>
                <a:rect l="l" t="t" r="r" b="b"/>
                <a:pathLst>
                  <a:path w="3576153" h="1484689">
                    <a:moveTo>
                      <a:pt x="3451693" y="1484689"/>
                    </a:moveTo>
                    <a:lnTo>
                      <a:pt x="124460" y="1484689"/>
                    </a:lnTo>
                    <a:cubicBezTo>
                      <a:pt x="55880" y="1484689"/>
                      <a:pt x="0" y="1428809"/>
                      <a:pt x="0" y="1360229"/>
                    </a:cubicBezTo>
                    <a:lnTo>
                      <a:pt x="0" y="124460"/>
                    </a:lnTo>
                    <a:cubicBezTo>
                      <a:pt x="0" y="55880"/>
                      <a:pt x="55880" y="0"/>
                      <a:pt x="124460" y="0"/>
                    </a:cubicBezTo>
                    <a:lnTo>
                      <a:pt x="3451694" y="0"/>
                    </a:lnTo>
                    <a:cubicBezTo>
                      <a:pt x="3520273" y="0"/>
                      <a:pt x="3576153" y="55880"/>
                      <a:pt x="3576153" y="124460"/>
                    </a:cubicBezTo>
                    <a:lnTo>
                      <a:pt x="3576153" y="1360229"/>
                    </a:lnTo>
                    <a:cubicBezTo>
                      <a:pt x="3576153" y="1428809"/>
                      <a:pt x="3520273" y="1484689"/>
                      <a:pt x="3451694" y="1484689"/>
                    </a:cubicBezTo>
                    <a:close/>
                  </a:path>
                </a:pathLst>
              </a:custGeom>
              <a:solidFill>
                <a:srgbClr val="75C7FB"/>
              </a:solidFill>
            </p:spPr>
          </p:sp>
        </p:grpSp>
        <p:grpSp>
          <p:nvGrpSpPr>
            <p:cNvPr id="19" name="Group 19"/>
            <p:cNvGrpSpPr/>
            <p:nvPr/>
          </p:nvGrpSpPr>
          <p:grpSpPr>
            <a:xfrm>
              <a:off x="0" y="1455666"/>
              <a:ext cx="11532917" cy="4667111"/>
              <a:chOff x="0" y="0"/>
              <a:chExt cx="3576153" cy="1447189"/>
            </a:xfrm>
          </p:grpSpPr>
          <p:sp>
            <p:nvSpPr>
              <p:cNvPr id="20" name="Freeform 20"/>
              <p:cNvSpPr/>
              <p:nvPr/>
            </p:nvSpPr>
            <p:spPr>
              <a:xfrm>
                <a:off x="0" y="0"/>
                <a:ext cx="3576153" cy="1447189"/>
              </a:xfrm>
              <a:custGeom>
                <a:avLst/>
                <a:gdLst/>
                <a:ahLst/>
                <a:cxnLst/>
                <a:rect l="l" t="t" r="r" b="b"/>
                <a:pathLst>
                  <a:path w="3576153" h="1447189">
                    <a:moveTo>
                      <a:pt x="3451693" y="1447189"/>
                    </a:moveTo>
                    <a:lnTo>
                      <a:pt x="124460" y="1447189"/>
                    </a:lnTo>
                    <a:cubicBezTo>
                      <a:pt x="55880" y="1447189"/>
                      <a:pt x="0" y="1391309"/>
                      <a:pt x="0" y="1322729"/>
                    </a:cubicBezTo>
                    <a:lnTo>
                      <a:pt x="0" y="124460"/>
                    </a:lnTo>
                    <a:cubicBezTo>
                      <a:pt x="0" y="55880"/>
                      <a:pt x="55880" y="0"/>
                      <a:pt x="124460" y="0"/>
                    </a:cubicBezTo>
                    <a:lnTo>
                      <a:pt x="3451694" y="0"/>
                    </a:lnTo>
                    <a:cubicBezTo>
                      <a:pt x="3520273" y="0"/>
                      <a:pt x="3576153" y="55880"/>
                      <a:pt x="3576153" y="124460"/>
                    </a:cubicBezTo>
                    <a:lnTo>
                      <a:pt x="3576153" y="1322729"/>
                    </a:lnTo>
                    <a:cubicBezTo>
                      <a:pt x="3576153" y="1391309"/>
                      <a:pt x="3520273" y="1447189"/>
                      <a:pt x="3451694" y="1447189"/>
                    </a:cubicBezTo>
                    <a:close/>
                  </a:path>
                </a:pathLst>
              </a:custGeom>
              <a:solidFill>
                <a:srgbClr val="FFFFFF"/>
              </a:solidFill>
            </p:spPr>
          </p:sp>
        </p:grpSp>
      </p:grpSp>
      <p:sp>
        <p:nvSpPr>
          <p:cNvPr id="21" name="TextBox 21"/>
          <p:cNvSpPr txBox="1"/>
          <p:nvPr/>
        </p:nvSpPr>
        <p:spPr>
          <a:xfrm>
            <a:off x="9695451" y="551564"/>
            <a:ext cx="6791202" cy="614239"/>
          </a:xfrm>
          <a:prstGeom prst="rect">
            <a:avLst/>
          </a:prstGeom>
        </p:spPr>
        <p:txBody>
          <a:bodyPr lIns="0" tIns="0" rIns="0" bIns="0" rtlCol="0" anchor="t">
            <a:spAutoFit/>
          </a:bodyPr>
          <a:lstStyle/>
          <a:p>
            <a:pPr algn="l">
              <a:lnSpc>
                <a:spcPts val="5040"/>
              </a:lnSpc>
              <a:spcBef>
                <a:spcPct val="0"/>
              </a:spcBef>
            </a:pPr>
            <a:r>
              <a:rPr lang="en-US" sz="3600" b="1">
                <a:solidFill>
                  <a:srgbClr val="FFFFFF"/>
                </a:solidFill>
                <a:latin typeface="Inknut Antiqua Medium"/>
                <a:ea typeface="Inknut Antiqua Medium"/>
                <a:cs typeface="Inknut Antiqua Medium"/>
                <a:sym typeface="Inknut Antiqua Medium"/>
              </a:rPr>
              <a:t>Price</a:t>
            </a:r>
          </a:p>
        </p:txBody>
      </p:sp>
      <p:grpSp>
        <p:nvGrpSpPr>
          <p:cNvPr id="22" name="Group 22"/>
          <p:cNvGrpSpPr/>
          <p:nvPr/>
        </p:nvGrpSpPr>
        <p:grpSpPr>
          <a:xfrm>
            <a:off x="9305522" y="5325388"/>
            <a:ext cx="8649688" cy="4592083"/>
            <a:chOff x="0" y="0"/>
            <a:chExt cx="11532917" cy="6122777"/>
          </a:xfrm>
        </p:grpSpPr>
        <p:grpSp>
          <p:nvGrpSpPr>
            <p:cNvPr id="23" name="Group 23"/>
            <p:cNvGrpSpPr/>
            <p:nvPr/>
          </p:nvGrpSpPr>
          <p:grpSpPr>
            <a:xfrm>
              <a:off x="0" y="0"/>
              <a:ext cx="11532917" cy="4788047"/>
              <a:chOff x="0" y="0"/>
              <a:chExt cx="3576153" cy="1484689"/>
            </a:xfrm>
          </p:grpSpPr>
          <p:sp>
            <p:nvSpPr>
              <p:cNvPr id="24" name="Freeform 24"/>
              <p:cNvSpPr/>
              <p:nvPr/>
            </p:nvSpPr>
            <p:spPr>
              <a:xfrm>
                <a:off x="0" y="0"/>
                <a:ext cx="3576153" cy="1484689"/>
              </a:xfrm>
              <a:custGeom>
                <a:avLst/>
                <a:gdLst/>
                <a:ahLst/>
                <a:cxnLst/>
                <a:rect l="l" t="t" r="r" b="b"/>
                <a:pathLst>
                  <a:path w="3576153" h="1484689">
                    <a:moveTo>
                      <a:pt x="3451693" y="1484689"/>
                    </a:moveTo>
                    <a:lnTo>
                      <a:pt x="124460" y="1484689"/>
                    </a:lnTo>
                    <a:cubicBezTo>
                      <a:pt x="55880" y="1484689"/>
                      <a:pt x="0" y="1428809"/>
                      <a:pt x="0" y="1360229"/>
                    </a:cubicBezTo>
                    <a:lnTo>
                      <a:pt x="0" y="124460"/>
                    </a:lnTo>
                    <a:cubicBezTo>
                      <a:pt x="0" y="55880"/>
                      <a:pt x="55880" y="0"/>
                      <a:pt x="124460" y="0"/>
                    </a:cubicBezTo>
                    <a:lnTo>
                      <a:pt x="3451694" y="0"/>
                    </a:lnTo>
                    <a:cubicBezTo>
                      <a:pt x="3520273" y="0"/>
                      <a:pt x="3576153" y="55880"/>
                      <a:pt x="3576153" y="124460"/>
                    </a:cubicBezTo>
                    <a:lnTo>
                      <a:pt x="3576153" y="1360229"/>
                    </a:lnTo>
                    <a:cubicBezTo>
                      <a:pt x="3576153" y="1428809"/>
                      <a:pt x="3520273" y="1484689"/>
                      <a:pt x="3451694" y="1484689"/>
                    </a:cubicBezTo>
                    <a:close/>
                  </a:path>
                </a:pathLst>
              </a:custGeom>
              <a:solidFill>
                <a:srgbClr val="75C7FB"/>
              </a:solidFill>
            </p:spPr>
          </p:sp>
        </p:grpSp>
        <p:grpSp>
          <p:nvGrpSpPr>
            <p:cNvPr id="25" name="Group 25"/>
            <p:cNvGrpSpPr/>
            <p:nvPr/>
          </p:nvGrpSpPr>
          <p:grpSpPr>
            <a:xfrm>
              <a:off x="0" y="1455666"/>
              <a:ext cx="11532917" cy="4667111"/>
              <a:chOff x="0" y="0"/>
              <a:chExt cx="3576153" cy="1447189"/>
            </a:xfrm>
          </p:grpSpPr>
          <p:sp>
            <p:nvSpPr>
              <p:cNvPr id="26" name="Freeform 26"/>
              <p:cNvSpPr/>
              <p:nvPr/>
            </p:nvSpPr>
            <p:spPr>
              <a:xfrm>
                <a:off x="0" y="0"/>
                <a:ext cx="3576153" cy="1447189"/>
              </a:xfrm>
              <a:custGeom>
                <a:avLst/>
                <a:gdLst/>
                <a:ahLst/>
                <a:cxnLst/>
                <a:rect l="l" t="t" r="r" b="b"/>
                <a:pathLst>
                  <a:path w="3576153" h="1447189">
                    <a:moveTo>
                      <a:pt x="3451693" y="1447189"/>
                    </a:moveTo>
                    <a:lnTo>
                      <a:pt x="124460" y="1447189"/>
                    </a:lnTo>
                    <a:cubicBezTo>
                      <a:pt x="55880" y="1447189"/>
                      <a:pt x="0" y="1391309"/>
                      <a:pt x="0" y="1322729"/>
                    </a:cubicBezTo>
                    <a:lnTo>
                      <a:pt x="0" y="124460"/>
                    </a:lnTo>
                    <a:cubicBezTo>
                      <a:pt x="0" y="55880"/>
                      <a:pt x="55880" y="0"/>
                      <a:pt x="124460" y="0"/>
                    </a:cubicBezTo>
                    <a:lnTo>
                      <a:pt x="3451694" y="0"/>
                    </a:lnTo>
                    <a:cubicBezTo>
                      <a:pt x="3520273" y="0"/>
                      <a:pt x="3576153" y="55880"/>
                      <a:pt x="3576153" y="124460"/>
                    </a:cubicBezTo>
                    <a:lnTo>
                      <a:pt x="3576153" y="1322729"/>
                    </a:lnTo>
                    <a:cubicBezTo>
                      <a:pt x="3576153" y="1391309"/>
                      <a:pt x="3520273" y="1447189"/>
                      <a:pt x="3451694" y="1447189"/>
                    </a:cubicBezTo>
                    <a:close/>
                  </a:path>
                </a:pathLst>
              </a:custGeom>
              <a:solidFill>
                <a:srgbClr val="FFFFFF"/>
              </a:solidFill>
            </p:spPr>
          </p:sp>
        </p:grpSp>
      </p:grpSp>
      <p:sp>
        <p:nvSpPr>
          <p:cNvPr id="27" name="TextBox 27"/>
          <p:cNvSpPr txBox="1"/>
          <p:nvPr/>
        </p:nvSpPr>
        <p:spPr>
          <a:xfrm>
            <a:off x="9695451" y="5532372"/>
            <a:ext cx="6791202" cy="614239"/>
          </a:xfrm>
          <a:prstGeom prst="rect">
            <a:avLst/>
          </a:prstGeom>
        </p:spPr>
        <p:txBody>
          <a:bodyPr lIns="0" tIns="0" rIns="0" bIns="0" rtlCol="0" anchor="t">
            <a:spAutoFit/>
          </a:bodyPr>
          <a:lstStyle/>
          <a:p>
            <a:pPr algn="l">
              <a:lnSpc>
                <a:spcPts val="5040"/>
              </a:lnSpc>
              <a:spcBef>
                <a:spcPct val="0"/>
              </a:spcBef>
            </a:pPr>
            <a:r>
              <a:rPr lang="en-US" sz="3600" b="1">
                <a:solidFill>
                  <a:srgbClr val="FFFFFF"/>
                </a:solidFill>
                <a:latin typeface="Inknut Antiqua Medium"/>
                <a:ea typeface="Inknut Antiqua Medium"/>
                <a:cs typeface="Inknut Antiqua Medium"/>
                <a:sym typeface="Inknut Antiqua Medium"/>
              </a:rPr>
              <a:t>Place</a:t>
            </a:r>
          </a:p>
        </p:txBody>
      </p:sp>
      <p:sp>
        <p:nvSpPr>
          <p:cNvPr id="28" name="TextBox 28"/>
          <p:cNvSpPr txBox="1"/>
          <p:nvPr/>
        </p:nvSpPr>
        <p:spPr>
          <a:xfrm>
            <a:off x="722720" y="6905823"/>
            <a:ext cx="7779608" cy="2049151"/>
          </a:xfrm>
          <a:prstGeom prst="rect">
            <a:avLst/>
          </a:prstGeom>
        </p:spPr>
        <p:txBody>
          <a:bodyPr wrap="square" lIns="0" tIns="0" rIns="0" bIns="0" rtlCol="0" anchor="t">
            <a:spAutoFit/>
          </a:bodyPr>
          <a:lstStyle/>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Digital marketing (SEO, Google Ads, LinkedIn Ads) </a:t>
            </a:r>
            <a:endParaRPr lang="ka-GE" sz="1899" u="none" dirty="0">
              <a:solidFill>
                <a:srgbClr val="000000"/>
              </a:solidFill>
              <a:latin typeface="Muli"/>
              <a:ea typeface="Muli"/>
              <a:cs typeface="Muli"/>
              <a:sym typeface="Muli"/>
            </a:endParaRPr>
          </a:p>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Case studies and success stories (e.g. Extra) </a:t>
            </a:r>
            <a:endParaRPr lang="ka-GE" sz="1899" u="none" dirty="0">
              <a:solidFill>
                <a:srgbClr val="000000"/>
              </a:solidFill>
              <a:latin typeface="Muli"/>
              <a:ea typeface="Muli"/>
              <a:cs typeface="Muli"/>
              <a:sym typeface="Muli"/>
            </a:endParaRPr>
          </a:p>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Content marketing (blogs about e-commerce automation &amp; AI) Free demos and webinars for businesses </a:t>
            </a:r>
            <a:endParaRPr lang="ka-GE" sz="1899" u="none" dirty="0">
              <a:solidFill>
                <a:srgbClr val="000000"/>
              </a:solidFill>
              <a:latin typeface="Muli"/>
              <a:ea typeface="Muli"/>
              <a:cs typeface="Muli"/>
              <a:sym typeface="Muli"/>
            </a:endParaRPr>
          </a:p>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Participation in tech and startup events </a:t>
            </a:r>
            <a:endParaRPr lang="ka-GE" sz="1899" u="none" dirty="0">
              <a:solidFill>
                <a:srgbClr val="000000"/>
              </a:solidFill>
              <a:latin typeface="Muli"/>
              <a:ea typeface="Muli"/>
              <a:cs typeface="Muli"/>
              <a:sym typeface="Muli"/>
            </a:endParaRPr>
          </a:p>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Referral program for existing clients</a:t>
            </a:r>
          </a:p>
        </p:txBody>
      </p:sp>
      <p:sp>
        <p:nvSpPr>
          <p:cNvPr id="30" name="TextBox 30"/>
          <p:cNvSpPr txBox="1"/>
          <p:nvPr/>
        </p:nvSpPr>
        <p:spPr>
          <a:xfrm>
            <a:off x="9695451" y="1752098"/>
            <a:ext cx="7779608" cy="2741648"/>
          </a:xfrm>
          <a:prstGeom prst="rect">
            <a:avLst/>
          </a:prstGeom>
        </p:spPr>
        <p:txBody>
          <a:bodyPr wrap="square" lIns="0" tIns="0" rIns="0" bIns="0" rtlCol="0" anchor="t">
            <a:spAutoFit/>
          </a:bodyPr>
          <a:lstStyle/>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Subscription-based pricing model </a:t>
            </a:r>
            <a:endParaRPr lang="ka-GE" sz="1899" u="none" dirty="0">
              <a:solidFill>
                <a:srgbClr val="000000"/>
              </a:solidFill>
              <a:latin typeface="Muli"/>
              <a:ea typeface="Muli"/>
              <a:cs typeface="Muli"/>
              <a:sym typeface="Muli"/>
            </a:endParaRPr>
          </a:p>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Monthly plans based on: </a:t>
            </a:r>
            <a:endParaRPr lang="ka-GE" sz="1899" u="none" dirty="0">
              <a:solidFill>
                <a:srgbClr val="000000"/>
              </a:solidFill>
              <a:latin typeface="Muli"/>
              <a:ea typeface="Muli"/>
              <a:cs typeface="Muli"/>
              <a:sym typeface="Muli"/>
            </a:endParaRPr>
          </a:p>
          <a:p>
            <a:pPr marL="800100" lvl="1" indent="-342900">
              <a:lnSpc>
                <a:spcPts val="2697"/>
              </a:lnSpc>
              <a:buFont typeface="Arial" panose="020B0604020202020204" pitchFamily="34" charset="0"/>
              <a:buChar char="•"/>
            </a:pPr>
            <a:r>
              <a:rPr lang="en-US" sz="1899" u="none" dirty="0">
                <a:solidFill>
                  <a:srgbClr val="000000"/>
                </a:solidFill>
                <a:latin typeface="Muli"/>
                <a:ea typeface="Muli"/>
                <a:cs typeface="Muli"/>
                <a:sym typeface="Muli"/>
              </a:rPr>
              <a:t>Number of conversations </a:t>
            </a:r>
            <a:endParaRPr lang="ka-GE" sz="1899" u="none" dirty="0">
              <a:solidFill>
                <a:srgbClr val="000000"/>
              </a:solidFill>
              <a:latin typeface="Muli"/>
              <a:ea typeface="Muli"/>
              <a:cs typeface="Muli"/>
              <a:sym typeface="Muli"/>
            </a:endParaRPr>
          </a:p>
          <a:p>
            <a:pPr marL="800100" lvl="1" indent="-342900">
              <a:lnSpc>
                <a:spcPts val="2697"/>
              </a:lnSpc>
              <a:buFont typeface="Arial" panose="020B0604020202020204" pitchFamily="34" charset="0"/>
              <a:buChar char="•"/>
            </a:pPr>
            <a:r>
              <a:rPr lang="en-US" sz="1899" u="none" dirty="0">
                <a:solidFill>
                  <a:srgbClr val="000000"/>
                </a:solidFill>
                <a:latin typeface="Muli"/>
                <a:ea typeface="Muli"/>
                <a:cs typeface="Muli"/>
                <a:sym typeface="Muli"/>
              </a:rPr>
              <a:t>Number of integrations </a:t>
            </a:r>
            <a:endParaRPr lang="ka-GE" sz="1899" u="none" dirty="0">
              <a:solidFill>
                <a:srgbClr val="000000"/>
              </a:solidFill>
              <a:latin typeface="Muli"/>
              <a:ea typeface="Muli"/>
              <a:cs typeface="Muli"/>
              <a:sym typeface="Muli"/>
            </a:endParaRPr>
          </a:p>
          <a:p>
            <a:pPr marL="800100" lvl="1" indent="-342900">
              <a:lnSpc>
                <a:spcPts val="2697"/>
              </a:lnSpc>
              <a:buFont typeface="Arial" panose="020B0604020202020204" pitchFamily="34" charset="0"/>
              <a:buChar char="•"/>
            </a:pPr>
            <a:r>
              <a:rPr lang="en-US" sz="1899" u="none" dirty="0">
                <a:solidFill>
                  <a:srgbClr val="000000"/>
                </a:solidFill>
                <a:latin typeface="Muli"/>
                <a:ea typeface="Muli"/>
                <a:cs typeface="Muli"/>
                <a:sym typeface="Muli"/>
              </a:rPr>
              <a:t>Level of customization</a:t>
            </a:r>
            <a:endParaRPr lang="ka-GE" sz="1899" u="none" dirty="0">
              <a:solidFill>
                <a:srgbClr val="000000"/>
              </a:solidFill>
              <a:latin typeface="Muli"/>
              <a:ea typeface="Muli"/>
              <a:cs typeface="Muli"/>
              <a:sym typeface="Muli"/>
            </a:endParaRPr>
          </a:p>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Free trial period (14 days) </a:t>
            </a:r>
            <a:endParaRPr lang="ka-GE" sz="1899" u="none" dirty="0">
              <a:solidFill>
                <a:srgbClr val="000000"/>
              </a:solidFill>
              <a:latin typeface="Muli"/>
              <a:ea typeface="Muli"/>
              <a:cs typeface="Muli"/>
              <a:sym typeface="Muli"/>
            </a:endParaRPr>
          </a:p>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Setup fee for enterprise clients </a:t>
            </a:r>
            <a:endParaRPr lang="ka-GE" sz="1899" u="none" dirty="0">
              <a:solidFill>
                <a:srgbClr val="000000"/>
              </a:solidFill>
              <a:latin typeface="Muli"/>
              <a:ea typeface="Muli"/>
              <a:cs typeface="Muli"/>
              <a:sym typeface="Muli"/>
            </a:endParaRPr>
          </a:p>
          <a:p>
            <a:pPr marL="342900" lvl="0" indent="-342900" algn="l">
              <a:lnSpc>
                <a:spcPts val="2697"/>
              </a:lnSpc>
              <a:buFont typeface="Arial" panose="020B0604020202020204" pitchFamily="34" charset="0"/>
              <a:buChar char="•"/>
            </a:pPr>
            <a:r>
              <a:rPr lang="en-US" sz="1899" u="none" dirty="0">
                <a:solidFill>
                  <a:srgbClr val="000000"/>
                </a:solidFill>
                <a:latin typeface="Muli"/>
                <a:ea typeface="Muli"/>
                <a:cs typeface="Muli"/>
                <a:sym typeface="Muli"/>
              </a:rPr>
              <a:t>Discounts for long-term contracts (6–12 months)</a:t>
            </a:r>
          </a:p>
        </p:txBody>
      </p:sp>
      <p:sp>
        <p:nvSpPr>
          <p:cNvPr id="32" name="TextBox 32"/>
          <p:cNvSpPr txBox="1"/>
          <p:nvPr/>
        </p:nvSpPr>
        <p:spPr>
          <a:xfrm>
            <a:off x="10058400" y="6905823"/>
            <a:ext cx="7416659" cy="1938992"/>
          </a:xfrm>
          <a:prstGeom prst="rect">
            <a:avLst/>
          </a:prstGeom>
        </p:spPr>
        <p:txBody>
          <a:bodyPr wrap="square" lIns="0" tIns="0" rIns="0" bIns="0" rtlCol="0" anchor="t">
            <a:spAutoFit/>
          </a:bodyPr>
          <a:lstStyle/>
          <a:p>
            <a:pPr>
              <a:buFont typeface="Arial" panose="020B0604020202020204" pitchFamily="34" charset="0"/>
              <a:buChar char="•"/>
            </a:pPr>
            <a:r>
              <a:rPr lang="en-US" dirty="0"/>
              <a:t>Fully online service delivery</a:t>
            </a:r>
          </a:p>
          <a:p>
            <a:pPr>
              <a:buFont typeface="Arial" panose="020B0604020202020204" pitchFamily="34" charset="0"/>
              <a:buChar char="•"/>
            </a:pPr>
            <a:r>
              <a:rPr lang="en-US" dirty="0"/>
              <a:t>Direct sales through company website</a:t>
            </a:r>
          </a:p>
          <a:p>
            <a:pPr>
              <a:buFont typeface="Arial" panose="020B0604020202020204" pitchFamily="34" charset="0"/>
              <a:buChar char="•"/>
            </a:pPr>
            <a:r>
              <a:rPr lang="en-US" dirty="0"/>
              <a:t>B2B sales via email and LinkedIn outreach</a:t>
            </a:r>
          </a:p>
          <a:p>
            <a:pPr>
              <a:buFont typeface="Arial" panose="020B0604020202020204" pitchFamily="34" charset="0"/>
              <a:buChar char="•"/>
            </a:pPr>
            <a:r>
              <a:rPr lang="en-US" dirty="0"/>
              <a:t>Partnerships with:</a:t>
            </a:r>
          </a:p>
          <a:p>
            <a:pPr marL="742950" lvl="1" indent="-285750">
              <a:buFont typeface="Arial" panose="020B0604020202020204" pitchFamily="34" charset="0"/>
              <a:buChar char="•"/>
            </a:pPr>
            <a:r>
              <a:rPr lang="en-US" dirty="0"/>
              <a:t>Georgian e-commerce platforms</a:t>
            </a:r>
          </a:p>
          <a:p>
            <a:pPr marL="742950" lvl="1" indent="-285750">
              <a:buFont typeface="Arial" panose="020B0604020202020204" pitchFamily="34" charset="0"/>
              <a:buChar char="•"/>
            </a:pPr>
            <a:r>
              <a:rPr lang="en-US" dirty="0"/>
              <a:t>Digital agencies</a:t>
            </a:r>
          </a:p>
          <a:p>
            <a:pPr>
              <a:buFont typeface="Arial" panose="020B0604020202020204" pitchFamily="34" charset="0"/>
              <a:buChar char="•"/>
            </a:pPr>
            <a:r>
              <a:rPr lang="en-US" dirty="0"/>
              <a:t>Integration directly into client websites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456F1D-FBF5-4F6C-9304-723E6FBB2519}"/>
              </a:ext>
            </a:extLst>
          </p:cNvPr>
          <p:cNvSpPr txBox="1"/>
          <p:nvPr/>
        </p:nvSpPr>
        <p:spPr>
          <a:xfrm>
            <a:off x="4572000" y="3619500"/>
            <a:ext cx="9144000" cy="707886"/>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en-US" altLang="ka-GE" sz="4000" b="1" dirty="0">
                <a:latin typeface="Arial" panose="020B0604020202020204" pitchFamily="34" charset="0"/>
                <a:cs typeface="Arial" panose="020B0604020202020204" pitchFamily="34" charset="0"/>
              </a:rPr>
              <a:t>OPERATION PLAN</a:t>
            </a:r>
            <a:endParaRPr lang="en-US" sz="4000" b="1" dirty="0"/>
          </a:p>
        </p:txBody>
      </p:sp>
    </p:spTree>
    <p:extLst>
      <p:ext uri="{BB962C8B-B14F-4D97-AF65-F5344CB8AC3E}">
        <p14:creationId xmlns:p14="http://schemas.microsoft.com/office/powerpoint/2010/main" val="4192924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520E91-A8F6-4EB9-AC41-DBD02C0CE116}"/>
              </a:ext>
            </a:extLst>
          </p:cNvPr>
          <p:cNvSpPr txBox="1"/>
          <p:nvPr/>
        </p:nvSpPr>
        <p:spPr>
          <a:xfrm>
            <a:off x="1066800" y="2050345"/>
            <a:ext cx="14173200" cy="618630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Company operates fully online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Chatbots are developed and managed in the cloud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Team works remotely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Main activities:</a:t>
            </a:r>
          </a:p>
          <a:p>
            <a:pPr lvl="1" eaLnBrk="0" fontAlgn="base" hangingPunct="0">
              <a:spcBef>
                <a:spcPct val="0"/>
              </a:spcBef>
              <a:spcAft>
                <a:spcPct val="0"/>
              </a:spcAft>
              <a:buFontTx/>
              <a:buChar char="•"/>
            </a:pPr>
            <a:r>
              <a:rPr kumimoji="0" lang="en-US" altLang="en-US" sz="3600" b="0" i="0" u="none" strike="noStrike" cap="none" normalizeH="0" baseline="0" dirty="0">
                <a:ln>
                  <a:noFill/>
                </a:ln>
                <a:solidFill>
                  <a:schemeClr val="tx1"/>
                </a:solidFill>
                <a:effectLst/>
                <a:latin typeface="Arial" panose="020B0604020202020204" pitchFamily="34" charset="0"/>
              </a:rPr>
              <a:t>Chatbot development</a:t>
            </a:r>
          </a:p>
          <a:p>
            <a:pPr lvl="1" eaLnBrk="0" fontAlgn="base" hangingPunct="0">
              <a:spcBef>
                <a:spcPct val="0"/>
              </a:spcBef>
              <a:spcAft>
                <a:spcPct val="0"/>
              </a:spcAft>
              <a:buFontTx/>
              <a:buChar char="•"/>
            </a:pPr>
            <a:r>
              <a:rPr kumimoji="0" lang="en-US" altLang="en-US" sz="3600" b="0" i="0" u="none" strike="noStrike" cap="none" normalizeH="0" baseline="0" dirty="0">
                <a:ln>
                  <a:noFill/>
                </a:ln>
                <a:solidFill>
                  <a:schemeClr val="tx1"/>
                </a:solidFill>
                <a:effectLst/>
                <a:latin typeface="Arial" panose="020B0604020202020204" pitchFamily="34" charset="0"/>
              </a:rPr>
              <a:t>Website integration</a:t>
            </a:r>
          </a:p>
          <a:p>
            <a:pPr lvl="1" eaLnBrk="0" fontAlgn="base" hangingPunct="0">
              <a:spcBef>
                <a:spcPct val="0"/>
              </a:spcBef>
              <a:spcAft>
                <a:spcPct val="0"/>
              </a:spcAft>
              <a:buFontTx/>
              <a:buChar char="•"/>
            </a:pPr>
            <a:r>
              <a:rPr kumimoji="0" lang="en-US" altLang="en-US" sz="3600" b="0" i="0" u="none" strike="noStrike" cap="none" normalizeH="0" baseline="0" dirty="0">
                <a:ln>
                  <a:noFill/>
                </a:ln>
                <a:solidFill>
                  <a:schemeClr val="tx1"/>
                </a:solidFill>
                <a:effectLst/>
                <a:latin typeface="Arial" panose="020B0604020202020204" pitchFamily="34" charset="0"/>
              </a:rPr>
              <a:t>System monitoring and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Clients are onboarded online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Continuous technical support is provided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Partnerships with e-commerce companies and platforms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Data security and system reliability are ensured</a:t>
            </a:r>
          </a:p>
        </p:txBody>
      </p:sp>
    </p:spTree>
    <p:extLst>
      <p:ext uri="{BB962C8B-B14F-4D97-AF65-F5344CB8AC3E}">
        <p14:creationId xmlns:p14="http://schemas.microsoft.com/office/powerpoint/2010/main" val="142446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042D8F-9656-4852-BC1F-42EAD423BC28}"/>
              </a:ext>
            </a:extLst>
          </p:cNvPr>
          <p:cNvSpPr txBox="1"/>
          <p:nvPr/>
        </p:nvSpPr>
        <p:spPr>
          <a:xfrm>
            <a:off x="838200" y="1866900"/>
            <a:ext cx="13182600" cy="5632311"/>
          </a:xfrm>
          <a:prstGeom prst="rect">
            <a:avLst/>
          </a:prstGeom>
          <a:noFill/>
        </p:spPr>
        <p:txBody>
          <a:bodyPr wrap="square">
            <a:spAutoFit/>
          </a:bodyPr>
          <a:lstStyle/>
          <a:p>
            <a:r>
              <a:rPr lang="en-US" sz="3600" b="1" dirty="0"/>
              <a:t>OPERATION OBJECTIVE</a:t>
            </a:r>
            <a:endParaRPr lang="ka-GE" sz="3600" b="1" dirty="0"/>
          </a:p>
          <a:p>
            <a:endParaRPr lang="ka-GE" sz="3600" b="1" dirty="0"/>
          </a:p>
          <a:p>
            <a:endParaRPr lang="en-US" sz="3600" b="1" dirty="0"/>
          </a:p>
          <a:p>
            <a:pPr>
              <a:buFont typeface="Arial" panose="020B0604020202020204" pitchFamily="34" charset="0"/>
              <a:buChar char="•"/>
            </a:pPr>
            <a:r>
              <a:rPr lang="en-US" sz="3600" dirty="0"/>
              <a:t>To optimize customer satisfaction through AI chatbot solutions</a:t>
            </a:r>
          </a:p>
          <a:p>
            <a:pPr>
              <a:buFont typeface="Arial" panose="020B0604020202020204" pitchFamily="34" charset="0"/>
              <a:buChar char="•"/>
            </a:pPr>
            <a:r>
              <a:rPr lang="en-US" sz="3600" dirty="0"/>
              <a:t>To automate customer support for e-commerce websites</a:t>
            </a:r>
          </a:p>
          <a:p>
            <a:pPr>
              <a:buFont typeface="Arial" panose="020B0604020202020204" pitchFamily="34" charset="0"/>
              <a:buChar char="•"/>
            </a:pPr>
            <a:r>
              <a:rPr lang="en-US" sz="3600" dirty="0"/>
              <a:t>To ensure consistent chatbot performance and service quality</a:t>
            </a:r>
          </a:p>
          <a:p>
            <a:pPr>
              <a:buFont typeface="Arial" panose="020B0604020202020204" pitchFamily="34" charset="0"/>
              <a:buChar char="•"/>
            </a:pPr>
            <a:r>
              <a:rPr lang="en-US" sz="3600" dirty="0"/>
              <a:t>To resolve operational issues quickly and efficiently</a:t>
            </a:r>
          </a:p>
          <a:p>
            <a:pPr>
              <a:buFont typeface="Arial" panose="020B0604020202020204" pitchFamily="34" charset="0"/>
              <a:buChar char="•"/>
            </a:pPr>
            <a:r>
              <a:rPr lang="en-US" sz="3600" dirty="0"/>
              <a:t>To improve website conversion rate and response time</a:t>
            </a:r>
          </a:p>
          <a:p>
            <a:pPr>
              <a:buFont typeface="Arial" panose="020B0604020202020204" pitchFamily="34" charset="0"/>
              <a:buChar char="•"/>
            </a:pPr>
            <a:r>
              <a:rPr lang="en-US" sz="3600" dirty="0"/>
              <a:t>To continuously update and improve chatbot features</a:t>
            </a:r>
          </a:p>
          <a:p>
            <a:pPr>
              <a:buFont typeface="Arial" panose="020B0604020202020204" pitchFamily="34" charset="0"/>
              <a:buChar char="•"/>
            </a:pPr>
            <a:r>
              <a:rPr lang="en-US" sz="3600" dirty="0"/>
              <a:t>To expand operations by serving more online businesses</a:t>
            </a:r>
          </a:p>
        </p:txBody>
      </p:sp>
    </p:spTree>
    <p:extLst>
      <p:ext uri="{BB962C8B-B14F-4D97-AF65-F5344CB8AC3E}">
        <p14:creationId xmlns:p14="http://schemas.microsoft.com/office/powerpoint/2010/main" val="1548234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14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2" name="TextBox 32"/>
          <p:cNvSpPr txBox="1"/>
          <p:nvPr/>
        </p:nvSpPr>
        <p:spPr>
          <a:xfrm>
            <a:off x="6172200" y="4031144"/>
            <a:ext cx="6515101" cy="1112356"/>
          </a:xfrm>
          <a:prstGeom prst="rect">
            <a:avLst/>
          </a:prstGeom>
        </p:spPr>
        <p:txBody>
          <a:bodyPr wrap="square" lIns="0" tIns="0" rIns="0" bIns="0" rtlCol="0" anchor="t">
            <a:spAutoFit/>
          </a:bodyPr>
          <a:lstStyle/>
          <a:p>
            <a:pPr algn="l">
              <a:lnSpc>
                <a:spcPts val="7920"/>
              </a:lnSpc>
            </a:pPr>
            <a:r>
              <a:rPr lang="en-US" sz="11500" b="1" spc="-72" dirty="0">
                <a:solidFill>
                  <a:srgbClr val="0048CD"/>
                </a:solidFill>
                <a:latin typeface="Muli Bold"/>
                <a:ea typeface="Muli Bold"/>
                <a:cs typeface="Muli Bold"/>
                <a:sym typeface="Muli Bold"/>
              </a:rPr>
              <a:t>Thanks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1062</Words>
  <Application>Microsoft Office PowerPoint</Application>
  <PresentationFormat>Custom</PresentationFormat>
  <Paragraphs>192</Paragraphs>
  <Slides>17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Muli Bold</vt:lpstr>
      <vt:lpstr>Arial</vt:lpstr>
      <vt:lpstr>Inknut Antiqua Medium</vt:lpstr>
      <vt:lpstr>Calibri</vt:lpstr>
      <vt:lpstr>Aptos</vt:lpstr>
      <vt:lpstr>Muli</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MARKETING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Nikoloz Kordzakhia</cp:lastModifiedBy>
  <cp:revision>12</cp:revision>
  <dcterms:created xsi:type="dcterms:W3CDTF">2006-08-16T00:00:00Z</dcterms:created>
  <dcterms:modified xsi:type="dcterms:W3CDTF">2025-12-15T13:59:48Z</dcterms:modified>
  <dc:identifier>DAG7jEQ8a_4</dc:identifier>
</cp:coreProperties>
</file>