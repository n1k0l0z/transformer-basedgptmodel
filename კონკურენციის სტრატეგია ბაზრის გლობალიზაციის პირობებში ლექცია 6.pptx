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4" r:id="rId4"/>
    <p:sldId id="265" r:id="rId5"/>
    <p:sldId id="267" r:id="rId6"/>
    <p:sldId id="270" r:id="rId7"/>
    <p:sldId id="268" r:id="rId8"/>
    <p:sldId id="269" r:id="rId9"/>
    <p:sldId id="272" r:id="rId10"/>
    <p:sldId id="271" r:id="rId11"/>
    <p:sldId id="273" r:id="rId12"/>
    <p:sldId id="274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89697" autoAdjust="0"/>
  </p:normalViewPr>
  <p:slideViewPr>
    <p:cSldViewPr snapToGrid="0">
      <p:cViewPr varScale="1">
        <p:scale>
          <a:sx n="102" d="100"/>
          <a:sy n="102" d="100"/>
        </p:scale>
        <p:origin x="9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1A840-8D6D-CCC6-89FD-BF4DE5D56D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183916-2AE4-D2E3-8438-50AC7B69C8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B6FAF-2471-04AA-AD1C-AB177FBBB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C2EE7-3FA4-44E2-B4B2-1AAE9581770B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03AE3-173A-6EF4-C8CD-5BF6DF882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42898-6177-0F9F-AFD1-35DDBDC11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CDA68-B34A-4BBC-9A1B-3FB5B13EB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026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0B6ED-DB22-865E-F139-6746CD54C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latin typeface="Sylfaen" panose="010A0502050306030303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AF8DB-A1ED-6A98-A420-3185BAA3F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ylfaen" panose="010A0502050306030303" pitchFamily="18" charset="0"/>
              </a:defRPr>
            </a:lvl1pPr>
            <a:lvl2pPr>
              <a:defRPr>
                <a:latin typeface="Sylfaen" panose="010A0502050306030303" pitchFamily="18" charset="0"/>
              </a:defRPr>
            </a:lvl2pPr>
            <a:lvl3pPr>
              <a:defRPr>
                <a:latin typeface="Sylfaen" panose="010A0502050306030303" pitchFamily="18" charset="0"/>
              </a:defRPr>
            </a:lvl3pPr>
            <a:lvl4pPr>
              <a:defRPr>
                <a:latin typeface="Sylfaen" panose="010A0502050306030303" pitchFamily="18" charset="0"/>
              </a:defRPr>
            </a:lvl4pPr>
            <a:lvl5pPr>
              <a:defRPr>
                <a:latin typeface="Sylfaen" panose="010A0502050306030303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8650B-D9DA-B212-421B-6D1A5EE53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C2EE7-3FA4-44E2-B4B2-1AAE9581770B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1BB7A-7B91-3C5E-3016-80F786B83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171455-68D1-5F7B-CC7B-FB3A2D3D7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CDA68-B34A-4BBC-9A1B-3FB5B13EB1BD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F44C0C-F052-3D3C-5C98-6B6D05DDD1BD}"/>
              </a:ext>
            </a:extLst>
          </p:cNvPr>
          <p:cNvCxnSpPr/>
          <p:nvPr userDrawn="1"/>
        </p:nvCxnSpPr>
        <p:spPr>
          <a:xfrm>
            <a:off x="838200" y="1690688"/>
            <a:ext cx="1051560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0320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8ADA9-5752-F3DE-8756-AD29A67B9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32D3D-A045-0897-4941-A7F5662FD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41601-D261-9EA2-ED22-05B63082A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C2EE7-3FA4-44E2-B4B2-1AAE9581770B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4B304-545E-3F19-E98A-00E44BEB6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C6649-6159-DA79-1BBC-9810EB885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CDA68-B34A-4BBC-9A1B-3FB5B13EB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560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8C17E-A590-391B-43AF-D54AC1AD4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52352-91CA-F9D5-6266-8E6D11495B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0370AA-A835-4334-272C-24C5AC5DD5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FF75DA-9F7E-C48D-1862-7588485B0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C2EE7-3FA4-44E2-B4B2-1AAE9581770B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0991CB-E119-EB32-55BF-57202C4CB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2292B8-B8F7-4D5E-CD5F-FB921460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CDA68-B34A-4BBC-9A1B-3FB5B13EB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049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00C2B-E9AF-B419-D3E5-74951651B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8038D2-7C64-E5F1-24C9-448BD36DC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6F849F-95A2-D54C-F708-1FD4E607E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FCD0E6-F77A-9043-B153-CB684886E8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FF8EB8-E4B4-7591-8C36-A9126DDA06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FF97DD-F9E8-A00F-F575-9A4681E84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C2EE7-3FA4-44E2-B4B2-1AAE9581770B}" type="datetimeFigureOut">
              <a:rPr lang="en-US" smtClean="0"/>
              <a:t>3/25/26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1E4D5E-7B23-0627-00E9-D2EA7B90B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54D437-D52B-2ECC-C9A0-53123AE00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CDA68-B34A-4BBC-9A1B-3FB5B13EB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487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5FFEB-08C5-A51B-D0CF-92881395F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50DA2-188F-B0CB-351F-BEC2C63FF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C2EE7-3FA4-44E2-B4B2-1AAE9581770B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718AA4-7666-F5A3-FC65-FAAADBBB5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E53B4F-2BEA-5E13-B674-D1AFE7842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CDA68-B34A-4BBC-9A1B-3FB5B13EB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635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832A7A-25C4-079E-9184-7240301ED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C2EE7-3FA4-44E2-B4B2-1AAE9581770B}" type="datetimeFigureOut">
              <a:rPr lang="en-US" smtClean="0"/>
              <a:t>3/25/26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9ED1FE-1D7E-DBF5-36A8-F577D9045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6D9507-E027-BB89-DCED-76DC4CBAA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CDA68-B34A-4BBC-9A1B-3FB5B13EB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091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799BC-CE61-69ED-2F50-E38831A83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A16BA-E709-6E5F-5826-6C7C2C820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FE0D87-FAA1-C5B8-44FD-CE8E8A35BB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E8B898-0AD3-AA63-D4DB-36D92C8B5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C2EE7-3FA4-44E2-B4B2-1AAE9581770B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AD2FF5-47BF-B7CE-1140-4E30A8D2C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C3A9E2-80FC-3D40-1E5E-F65A301B5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CDA68-B34A-4BBC-9A1B-3FB5B13EB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099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04306-F474-C3D4-EA79-F681ADE84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A668D9-14B8-49FA-6BCD-C773C43477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9D0A16-51A5-BE2C-7BC3-EA31D60DC6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E73A64-1702-B7FC-8F48-3477AB3D2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C2EE7-3FA4-44E2-B4B2-1AAE9581770B}" type="datetimeFigureOut">
              <a:rPr lang="en-US" smtClean="0"/>
              <a:t>3/25/26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852C78-3071-A8F7-7C3F-C8709932F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318934-1758-EBDE-A8AA-BFD2B34BE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CDA68-B34A-4BBC-9A1B-3FB5B13EB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817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796D5-F49A-3826-D6D6-D77061406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68872E-8D1A-B19A-2689-873DAE1670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976CE-82CF-92DB-6592-0DEC9F9FA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C2EE7-3FA4-44E2-B4B2-1AAE9581770B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8F465-39C4-6632-26EF-D6E1C3BAD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F5BB5-2AD4-8393-048A-F38549A8D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CDA68-B34A-4BBC-9A1B-3FB5B13EB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396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BB34B4-DAAA-67AF-96C9-4738B14148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F1CED9-B796-B7B0-5D68-C82204145E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9C363-A0AC-F5C4-4483-FA8D970DD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C2EE7-3FA4-44E2-B4B2-1AAE9581770B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65C36-B775-17FD-9CE3-AE9150BB1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AC284-D154-48F7-1D3E-2B9E2A28B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CDA68-B34A-4BBC-9A1B-3FB5B13EB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547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9D0862-0D66-F05E-2FBD-C53E229D7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AECD8E-7CE8-B04C-1462-D25D8A69D4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B61C4-5568-7944-DDD5-71DD8F3C97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7C2EE7-3FA4-44E2-B4B2-1AAE9581770B}" type="datetimeFigureOut">
              <a:rPr lang="en-US" smtClean="0"/>
              <a:t>3/25/26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3217E-DE8D-0243-E0AC-3E7CF14AC0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C329F-FF08-CE2D-657D-B32ECCBB64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CDA68-B34A-4BBC-9A1B-3FB5B13EB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63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60222-04A7-C1F8-4A1C-D28085132B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ka-GE" dirty="0"/>
              <a:t>კონკურენციის სტრატეგია ბაზრის გლობალიზაციის პირობებში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CC62BB-2EC4-293D-F375-A58794DC39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a-GE" dirty="0"/>
              <a:t>ლექტორი: ნათია გიგაური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9171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24DE6-4762-F643-AB0C-432FE3774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a-GE" dirty="0"/>
              <a:t>რატომ გადიან კომპანიები საერთაშორისო ბაზრებზე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2F635-F999-D043-9D0F-0DB127BA4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a-GE" dirty="0"/>
              <a:t>ახალი კლიენტის მოზიდვა</a:t>
            </a:r>
          </a:p>
          <a:p>
            <a:r>
              <a:rPr lang="ka-GE" dirty="0"/>
              <a:t>დანახარჯების შემცირება და კონკურენტუნარიანობის ამაღლება</a:t>
            </a:r>
          </a:p>
          <a:p>
            <a:r>
              <a:rPr lang="ka-GE" dirty="0"/>
              <a:t>უპირატესობა ძირითადი კონპეტენციის საფუძველზე</a:t>
            </a:r>
          </a:p>
          <a:p>
            <a:r>
              <a:rPr lang="ka-GE" dirty="0"/>
              <a:t>რისკის შემცირება ბაზრისგაფართოების ხარჯზე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983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23426-6FB1-7B4E-A470-D5C4B45E7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a-GE" dirty="0"/>
              <a:t>განსხვავება საერთაშორისო და გლობალურ კონკურენციას შორის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0C548-18FE-9342-9DC5-53681F7E1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a-GE" dirty="0"/>
              <a:t>საერთაშორისო კონკურენცია როცა ფირმა მოღვაწეობს რამდენიმე ბაზარზე, ხოლო გლობალური როცა ფირმა აქვს ამბიცია მთელ იყოს მთელ მსოფლიოში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1959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862E4-55DB-3548-B840-F2A076F29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a-GE" dirty="0"/>
              <a:t>განსხვავება სხვადასხვა ქვეყნის კულტურულ, დემოგრაფიულ და საბაზრო პირობებს შორის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F10F0-BFA2-684E-B5C4-6BA09D1C0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a-GE" dirty="0"/>
              <a:t>აუცილებელია ადაპტაცია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422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EB07B-847D-094C-921E-56991A391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96519-130C-B145-AE15-B5BACE530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a-GE" dirty="0"/>
              <a:t>ადგილმდებარეობა</a:t>
            </a:r>
          </a:p>
          <a:p>
            <a:r>
              <a:rPr lang="ka-GE" dirty="0"/>
              <a:t>სავალუტო კურსი</a:t>
            </a:r>
          </a:p>
          <a:p>
            <a:r>
              <a:rPr lang="ka-GE" dirty="0"/>
              <a:t>სახელმწიფო რეგულირება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327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4868C-FF16-7B4C-8088-AB4616C1A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a-GE" dirty="0"/>
              <a:t>წარმოების კონცენტრირების მიზანშეწონილობა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3C59C-17D3-A646-8191-4EA863D12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a-GE" dirty="0"/>
              <a:t>ზოგიერთ ქვეყანაში წარმოების დანახარჯები გაცილებით დაბალია</a:t>
            </a:r>
          </a:p>
          <a:p>
            <a:r>
              <a:rPr lang="ka-GE" dirty="0"/>
              <a:t>მასშტაბის ეკონომია</a:t>
            </a:r>
          </a:p>
          <a:p>
            <a:r>
              <a:rPr lang="ka-GE" dirty="0"/>
              <a:t>სწავლების და გამოცდილების ეფექტი</a:t>
            </a:r>
          </a:p>
          <a:p>
            <a:r>
              <a:rPr lang="ka-GE" dirty="0"/>
              <a:t>რესურსების კონცენტრაცია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503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8FB06-80CD-6A44-A64D-7FA2FDDD2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a-GE" dirty="0"/>
              <a:t>გარე ბაზრებზე შესვლისა და კონკურენციის სტრატეგიები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BE136-5058-6243-B900-A85A1969C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a-GE" dirty="0"/>
              <a:t>საწარმოო ბაზის შექმნა ერთ ქვეყანაში და უცხოეთში საქონლის ექსპორტი</a:t>
            </a:r>
          </a:p>
          <a:p>
            <a:r>
              <a:rPr lang="ka-GE" dirty="0"/>
              <a:t>უცხოურ ფირმებზე ლიცენზიის გაცემა</a:t>
            </a:r>
          </a:p>
          <a:p>
            <a:r>
              <a:rPr lang="ka-GE" dirty="0"/>
              <a:t>ფრანჩაიზინგი</a:t>
            </a:r>
          </a:p>
          <a:p>
            <a:r>
              <a:rPr lang="ka-GE" dirty="0"/>
              <a:t>გლობალური სტრატეგია</a:t>
            </a:r>
          </a:p>
          <a:p>
            <a:r>
              <a:rPr lang="ka-GE" dirty="0"/>
              <a:t>სტრატეგიული ალიანსები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581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4BE5A-3DD0-874F-A935-DD4CF2D3B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a-GE" dirty="0"/>
              <a:t>უცხოელ პარტნიორებთან სტრატეგიული კავშირების ეფექტიანობა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590AE-E65F-0446-B61F-674AFFA20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a-GE" dirty="0"/>
              <a:t>პარტნიორის სანდოობა</a:t>
            </a:r>
          </a:p>
          <a:p>
            <a:r>
              <a:rPr lang="ka-GE" dirty="0"/>
              <a:t>კულტურული სხვაობების გათვალისწინება</a:t>
            </a:r>
          </a:p>
          <a:p>
            <a:r>
              <a:rPr lang="ka-GE" dirty="0"/>
              <a:t>ორმხრივი სარგებლიანობა</a:t>
            </a:r>
          </a:p>
          <a:p>
            <a:r>
              <a:rPr lang="ka-GE" dirty="0"/>
              <a:t>ვალდებულების ორმხრივი შესრულება</a:t>
            </a:r>
          </a:p>
          <a:p>
            <a:r>
              <a:rPr lang="ka-GE" dirty="0"/>
              <a:t>სწრაფი მოქმედება</a:t>
            </a:r>
          </a:p>
          <a:p>
            <a:r>
              <a:rPr lang="ka-GE" dirty="0"/>
              <a:t>ერთობლივი სწავლების ორგანიზება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78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DEB13-05E1-B143-81D2-61D75737A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a-GE" dirty="0"/>
              <a:t>კონკურენცია განვითარებად ქვეყნების ბაზრებზე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FA117-34C7-4640-9A1A-39D8EA954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a-GE" dirty="0"/>
              <a:t>სტრატეგიული ფორმირების წინაპირობები: ფასი, ფორმა, შეფუთვა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236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4C6EF-E015-9A4E-BFFB-D19F71DCB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a-GE" dirty="0"/>
              <a:t>სტრატეგიის ვარიანტები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1F2825-5E41-6943-B963-2D5A8415DD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73" t="27420" r="24572" b="16734"/>
          <a:stretch/>
        </p:blipFill>
        <p:spPr>
          <a:xfrm>
            <a:off x="1578279" y="1941390"/>
            <a:ext cx="7628350" cy="4916610"/>
          </a:xfrm>
        </p:spPr>
      </p:pic>
    </p:spTree>
    <p:extLst>
      <p:ext uri="{BB962C8B-B14F-4D97-AF65-F5344CB8AC3E}">
        <p14:creationId xmlns:p14="http://schemas.microsoft.com/office/powerpoint/2010/main" val="362207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86963-F657-9E4E-9CC7-0CCA56E49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a-GE" dirty="0"/>
              <a:t>გამოცდილების და ცოდნის გატანა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18BBA-1C51-0545-BA99-20386ECC4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a-GE" dirty="0"/>
              <a:t>გამოცდილების და ცოდნის გატანა</a:t>
            </a:r>
          </a:p>
          <a:p>
            <a:r>
              <a:rPr lang="ka-GE" dirty="0"/>
              <a:t>კონკურენციაზე თავის არიდება</a:t>
            </a:r>
          </a:p>
          <a:p>
            <a:r>
              <a:rPr lang="ka-GE" dirty="0"/>
              <a:t>გლობალურ დონეზე გასვლა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16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B4878-BF7D-7648-B5A0-BF8E34E3A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a-GE" dirty="0"/>
              <a:t>4 მიზეზი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2CD76-DDA6-B448-9513-29C23D157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a-GE" dirty="0"/>
              <a:t>სწრაფვა მომხმარებლის წრის გაფართოებისკენ</a:t>
            </a:r>
          </a:p>
          <a:p>
            <a:r>
              <a:rPr lang="ka-GE" dirty="0"/>
              <a:t>დანახარჯების შემცირების სურვილი</a:t>
            </a:r>
          </a:p>
          <a:p>
            <a:r>
              <a:rPr lang="ka-GE" dirty="0"/>
              <a:t>საკუთარი საბაზისო კომპეტენციის გაფართოების და სრულყოფილების შესაძლებლობა</a:t>
            </a:r>
          </a:p>
          <a:p>
            <a:r>
              <a:rPr lang="ka-GE" dirty="0"/>
              <a:t>რისკის შემცირების სურვილი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5599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82407-25C7-E046-8AF2-A1A4CB426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24862-E47D-E243-8D72-326ACC5FC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140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1573</TotalTime>
  <Words>180</Words>
  <Application>Microsoft Macintosh PowerPoint</Application>
  <PresentationFormat>Widescreen</PresentationFormat>
  <Paragraphs>44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Sylfaen</vt:lpstr>
      <vt:lpstr>Office Theme</vt:lpstr>
      <vt:lpstr>კონკურენციის სტრატეგია ბაზრის გლობალიზაციის პირობებში</vt:lpstr>
      <vt:lpstr>რატომ გადიან კომპანიები საერთაშორისო ბაზრებზე</vt:lpstr>
      <vt:lpstr>განსხვავება საერთაშორისო და გლობალურ კონკურენციას შორის</vt:lpstr>
      <vt:lpstr>განსხვავება სხვადასხვა ქვეყნის კულტურულ, დემოგრაფიულ და საბაზრო პირობებს შორის</vt:lpstr>
      <vt:lpstr>PowerPoint Presentation</vt:lpstr>
      <vt:lpstr>წარმოების კონცენტრირების მიზანშეწონილობა</vt:lpstr>
      <vt:lpstr>გარე ბაზრებზე შესვლისა და კონკურენციის სტრატეგიები</vt:lpstr>
      <vt:lpstr>უცხოელ პარტნიორებთან სტრატეგიული კავშირების ეფექტიანობა</vt:lpstr>
      <vt:lpstr>კონკურენცია განვითარებად ქვეყნების ბაზრებზე</vt:lpstr>
      <vt:lpstr>სტრატეგიის ვარიანტები</vt:lpstr>
      <vt:lpstr>გამოცდილების და ცოდნის გატანა</vt:lpstr>
      <vt:lpstr>4 მიზეზი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natia gigauri</dc:creator>
  <cp:lastModifiedBy>natia gigauri</cp:lastModifiedBy>
  <cp:revision>33</cp:revision>
  <dcterms:created xsi:type="dcterms:W3CDTF">2023-02-02T16:34:02Z</dcterms:created>
  <dcterms:modified xsi:type="dcterms:W3CDTF">2026-03-25T09:06:08Z</dcterms:modified>
</cp:coreProperties>
</file>